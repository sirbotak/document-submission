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4"/>
    <p:sldMasterId id="2147483648" r:id="rId5"/>
    <p:sldMasterId id="2147483752" r:id="rId6"/>
    <p:sldMasterId id="2147483704" r:id="rId7"/>
  </p:sldMasterIdLst>
  <p:notesMasterIdLst>
    <p:notesMasterId r:id="rId25"/>
  </p:notesMasterIdLst>
  <p:handoutMasterIdLst>
    <p:handoutMasterId r:id="rId26"/>
  </p:handoutMasterIdLst>
  <p:sldIdLst>
    <p:sldId id="256" r:id="rId8"/>
    <p:sldId id="269" r:id="rId9"/>
    <p:sldId id="259" r:id="rId10"/>
    <p:sldId id="272" r:id="rId11"/>
    <p:sldId id="294" r:id="rId12"/>
    <p:sldId id="273" r:id="rId13"/>
    <p:sldId id="293" r:id="rId14"/>
    <p:sldId id="295" r:id="rId15"/>
    <p:sldId id="296" r:id="rId16"/>
    <p:sldId id="297" r:id="rId17"/>
    <p:sldId id="298" r:id="rId18"/>
    <p:sldId id="299" r:id="rId19"/>
    <p:sldId id="276" r:id="rId20"/>
    <p:sldId id="258" r:id="rId21"/>
    <p:sldId id="275" r:id="rId22"/>
    <p:sldId id="292" r:id="rId23"/>
    <p:sldId id="284" r:id="rId24"/>
  </p:sldIdLst>
  <p:sldSz cx="12192000" cy="6858000"/>
  <p:notesSz cx="6858000" cy="9144000"/>
  <p:embeddedFontLst>
    <p:embeddedFont>
      <p:font typeface="Ubuntu" panose="020B0504030602030204" pitchFamily="34" charset="0"/>
      <p:regular r:id="rId27"/>
      <p:bold r:id="rId28"/>
      <p:italic r:id="rId29"/>
      <p:boldItalic r:id="rId30"/>
    </p:embeddedFont>
  </p:embeddedFontLst>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1006DAB2-B71D-3347-B3EF-014DA7DE0E8E}">
          <p14:sldIdLst>
            <p14:sldId id="256"/>
            <p14:sldId id="269"/>
            <p14:sldId id="259"/>
            <p14:sldId id="272"/>
            <p14:sldId id="294"/>
            <p14:sldId id="273"/>
            <p14:sldId id="293"/>
            <p14:sldId id="295"/>
            <p14:sldId id="296"/>
            <p14:sldId id="297"/>
            <p14:sldId id="298"/>
            <p14:sldId id="299"/>
            <p14:sldId id="276"/>
            <p14:sldId id="258"/>
            <p14:sldId id="275"/>
            <p14:sldId id="292"/>
            <p14:sldId id="284"/>
          </p14:sldIdLst>
        </p14:section>
        <p14:section name="stand out slide" id="{931D4ECF-FA8C-684D-BD9F-7C447B9FA9C7}">
          <p14:sldIdLst/>
        </p14:section>
        <p14:section name="content" id="{07EFC97D-25D9-DE42-92B7-D832EDBB936C}">
          <p14:sldIdLst/>
        </p14:section>
        <p14:section name="end slide" id="{C508297D-8E91-BE44-86FE-ED4B6D52C8D5}">
          <p14:sldIdLst/>
        </p14:section>
        <p14:section name="divider slide" id="{11A5BE42-2ABF-B049-9795-D5160D5689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19FD3-E058-4F37-B0D1-D9E5714DA983}" v="4" dt="2021-07-01T05:49:49.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02" autoAdjust="0"/>
    <p:restoredTop sz="91026" autoAdjust="0"/>
  </p:normalViewPr>
  <p:slideViewPr>
    <p:cSldViewPr snapToGrid="0">
      <p:cViewPr>
        <p:scale>
          <a:sx n="58" d="100"/>
          <a:sy n="58" d="100"/>
        </p:scale>
        <p:origin x="672" y="32"/>
      </p:cViewPr>
      <p:guideLst/>
    </p:cSldViewPr>
  </p:slideViewPr>
  <p:outlineViewPr>
    <p:cViewPr>
      <p:scale>
        <a:sx n="33" d="100"/>
        <a:sy n="33" d="100"/>
      </p:scale>
      <p:origin x="0" y="-1876"/>
    </p:cViewPr>
  </p:outlineViewPr>
  <p:notesTextViewPr>
    <p:cViewPr>
      <p:scale>
        <a:sx n="1" d="1"/>
        <a:sy n="1" d="1"/>
      </p:scale>
      <p:origin x="0" y="0"/>
    </p:cViewPr>
  </p:notesTextViewPr>
  <p:notesViewPr>
    <p:cSldViewPr snapToGrid="0">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FF53-D302-4D4F-9638-08F4A0372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D4DFB5A3-0E95-904D-84CD-BD9CD3B391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9A15DD-D767-E940-9658-67E0AA1A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C7C64E-0F0E-6141-8FA9-D6F2ED3FA56A}" type="slidenum">
              <a:rPr lang="en-US" smtClean="0"/>
              <a:t>‹#›</a:t>
            </a:fld>
            <a:endParaRPr lang="en-US"/>
          </a:p>
        </p:txBody>
      </p:sp>
    </p:spTree>
    <p:extLst>
      <p:ext uri="{BB962C8B-B14F-4D97-AF65-F5344CB8AC3E}">
        <p14:creationId xmlns:p14="http://schemas.microsoft.com/office/powerpoint/2010/main" val="1826408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C3EAE-22DF-2B4B-A1EA-17751061A738}"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AAE03-B067-BC4B-B4DC-EFC02FBC7F46}" type="slidenum">
              <a:rPr lang="en-US" smtClean="0"/>
              <a:t>‹#›</a:t>
            </a:fld>
            <a:endParaRPr lang="en-US"/>
          </a:p>
        </p:txBody>
      </p:sp>
    </p:spTree>
    <p:extLst>
      <p:ext uri="{BB962C8B-B14F-4D97-AF65-F5344CB8AC3E}">
        <p14:creationId xmlns:p14="http://schemas.microsoft.com/office/powerpoint/2010/main" val="353291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6</a:t>
            </a:fld>
            <a:endParaRPr lang="en-US"/>
          </a:p>
        </p:txBody>
      </p:sp>
    </p:spTree>
    <p:extLst>
      <p:ext uri="{BB962C8B-B14F-4D97-AF65-F5344CB8AC3E}">
        <p14:creationId xmlns:p14="http://schemas.microsoft.com/office/powerpoint/2010/main" val="2745450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9</a:t>
            </a:fld>
            <a:endParaRPr lang="en-US"/>
          </a:p>
        </p:txBody>
      </p:sp>
    </p:spTree>
    <p:extLst>
      <p:ext uri="{BB962C8B-B14F-4D97-AF65-F5344CB8AC3E}">
        <p14:creationId xmlns:p14="http://schemas.microsoft.com/office/powerpoint/2010/main" val="3573047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AA988A5D-AEEF-47FD-939E-62D00ADE6B30}"/>
              </a:ext>
            </a:extLst>
          </p:cNvPr>
          <p:cNvGrpSpPr/>
          <p:nvPr userDrawn="1"/>
        </p:nvGrpSpPr>
        <p:grpSpPr>
          <a:xfrm>
            <a:off x="9274008" y="678594"/>
            <a:ext cx="2330418" cy="520011"/>
            <a:chOff x="2497995" y="2687207"/>
            <a:chExt cx="5762625" cy="1285875"/>
          </a:xfrm>
        </p:grpSpPr>
        <p:sp>
          <p:nvSpPr>
            <p:cNvPr id="19" name="Freeform: Shape 18">
              <a:extLst>
                <a:ext uri="{FF2B5EF4-FFF2-40B4-BE49-F238E27FC236}">
                  <a16:creationId xmlns:a16="http://schemas.microsoft.com/office/drawing/2014/main" id="{B367EA97-5AAD-47B2-ACFA-8E1EBAB18CC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1969243-7887-4069-95D3-4D2FFE553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3BE5979-41F1-4911-A49C-F8551C78140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C9EBBC4-B445-4D01-B2F1-9F0A220E8C8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5397DA1-3136-48D3-9172-3CEBE11F369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835855"/>
      </p:ext>
    </p:extLst>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Slide">
    <p:bg>
      <p:bgRef idx="1001">
        <a:schemeClr val="bg2"/>
      </p:bgRef>
    </p:bg>
    <p:spTree>
      <p:nvGrpSpPr>
        <p:cNvPr id="1" name=""/>
        <p:cNvGrpSpPr/>
        <p:nvPr/>
      </p:nvGrpSpPr>
      <p:grpSpPr>
        <a:xfrm>
          <a:off x="0" y="0"/>
          <a:ext cx="0" cy="0"/>
          <a:chOff x="0" y="0"/>
          <a:chExt cx="0" cy="0"/>
        </a:xfrm>
      </p:grpSpPr>
      <p:pic>
        <p:nvPicPr>
          <p:cNvPr id="12" name="Picture 11" descr="Background pattern&#10;&#10;Description automatically generated">
            <a:extLst>
              <a:ext uri="{FF2B5EF4-FFF2-40B4-BE49-F238E27FC236}">
                <a16:creationId xmlns:a16="http://schemas.microsoft.com/office/drawing/2014/main" id="{2BAE7AEC-46C9-F34A-9598-041067CA00A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90551" y="-590554"/>
            <a:ext cx="6857999" cy="8039103"/>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33" name="Graphic 4">
            <a:extLst>
              <a:ext uri="{FF2B5EF4-FFF2-40B4-BE49-F238E27FC236}">
                <a16:creationId xmlns:a16="http://schemas.microsoft.com/office/drawing/2014/main" id="{1D1257AF-406F-4A8F-B355-1AB33C444478}"/>
              </a:ext>
            </a:extLst>
          </p:cNvPr>
          <p:cNvGrpSpPr/>
          <p:nvPr userDrawn="1"/>
        </p:nvGrpSpPr>
        <p:grpSpPr>
          <a:xfrm>
            <a:off x="298311" y="5827455"/>
            <a:ext cx="1375944" cy="307029"/>
            <a:chOff x="2497995" y="2687207"/>
            <a:chExt cx="5762625" cy="1285875"/>
          </a:xfrm>
        </p:grpSpPr>
        <p:sp>
          <p:nvSpPr>
            <p:cNvPr id="34" name="Freeform: Shape 33">
              <a:extLst>
                <a:ext uri="{FF2B5EF4-FFF2-40B4-BE49-F238E27FC236}">
                  <a16:creationId xmlns:a16="http://schemas.microsoft.com/office/drawing/2014/main" id="{37D0A2BB-2381-4FEA-A589-717E622EC38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DFC2012-0505-48D0-8B8C-0D87280D267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220C24E-016D-4339-A9CC-34FCD5B7715F}"/>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AACAC2B-7FD8-45EE-8D67-614CE8B4454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DE62BB4-1EC3-4F10-A069-7EA91B5E6DF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28563074"/>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54E524-EE96-9C4C-82AE-3054621F61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9"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25B3A219-0243-EA41-9B7B-EE45C6454C59}"/>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88D80543-589E-4DCA-9A7E-CDBB3FF1C34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8209807A-7909-4E62-8A13-EB02E8A054D4}"/>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82A09D-0625-4601-95E9-6F31F646A53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0D4723D-24A8-4D1D-96E8-009C9F4D38B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465A122-4DC9-490C-98FF-963CF829AC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3B073FA-C25E-4927-B37C-36FC923CC4F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0841481"/>
      </p:ext>
    </p:extLst>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8" name="Graphic 4">
            <a:extLst>
              <a:ext uri="{FF2B5EF4-FFF2-40B4-BE49-F238E27FC236}">
                <a16:creationId xmlns:a16="http://schemas.microsoft.com/office/drawing/2014/main" id="{C7FF00BF-99DC-4DC4-9BC9-93FBFEEF656A}"/>
              </a:ext>
            </a:extLst>
          </p:cNvPr>
          <p:cNvGrpSpPr/>
          <p:nvPr userDrawn="1"/>
        </p:nvGrpSpPr>
        <p:grpSpPr>
          <a:xfrm>
            <a:off x="9274008" y="678594"/>
            <a:ext cx="2330418" cy="520011"/>
            <a:chOff x="2497995" y="2687207"/>
            <a:chExt cx="5762625" cy="1285875"/>
          </a:xfrm>
        </p:grpSpPr>
        <p:sp>
          <p:nvSpPr>
            <p:cNvPr id="9" name="Freeform: Shape 8">
              <a:extLst>
                <a:ext uri="{FF2B5EF4-FFF2-40B4-BE49-F238E27FC236}">
                  <a16:creationId xmlns:a16="http://schemas.microsoft.com/office/drawing/2014/main" id="{CDA7B5EF-1BD8-4FE6-81FA-A98EA3F9F26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A44760-69F4-4834-9C8C-9FE83AB510B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3C2AB95-77E6-4BE7-B21B-40D83039E71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ACDA203-7C93-4A34-8CB8-F5A9E371408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448B987-2747-4792-B5EE-FB7AA2E86A3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5902735"/>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8785937"/>
      </p:ext>
    </p:extLst>
  </p:cSld>
  <p:clrMapOvr>
    <a:overrideClrMapping bg1="dk1" tx1="lt1" bg2="dk2" tx2="lt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bg>
      <p:bgRef idx="1001">
        <a:schemeClr val="bg2"/>
      </p:bgRef>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8D18096-9C58-DB48-B976-A06F36A29D2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8"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11" name="TextBox 10">
            <a:extLst>
              <a:ext uri="{FF2B5EF4-FFF2-40B4-BE49-F238E27FC236}">
                <a16:creationId xmlns:a16="http://schemas.microsoft.com/office/drawing/2014/main" id="{2C743FC9-13BB-D047-855F-87FEBDFC689C}"/>
              </a:ext>
            </a:extLst>
          </p:cNvPr>
          <p:cNvSpPr txBox="1"/>
          <p:nvPr userDrawn="1"/>
        </p:nvSpPr>
        <p:spPr>
          <a:xfrm>
            <a:off x="218662" y="6510129"/>
            <a:ext cx="449557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9C060139-F205-4452-8C5A-510BDCFBAD76}"/>
              </a:ext>
            </a:extLst>
          </p:cNvPr>
          <p:cNvGrpSpPr/>
          <p:nvPr userDrawn="1"/>
        </p:nvGrpSpPr>
        <p:grpSpPr>
          <a:xfrm>
            <a:off x="298311" y="5827455"/>
            <a:ext cx="1375944" cy="307029"/>
            <a:chOff x="2497995" y="2687207"/>
            <a:chExt cx="5762625" cy="1285875"/>
          </a:xfrm>
        </p:grpSpPr>
        <p:sp>
          <p:nvSpPr>
            <p:cNvPr id="16" name="Freeform: Shape 15">
              <a:extLst>
                <a:ext uri="{FF2B5EF4-FFF2-40B4-BE49-F238E27FC236}">
                  <a16:creationId xmlns:a16="http://schemas.microsoft.com/office/drawing/2014/main" id="{CCE7E097-23FD-4C65-99E5-BEFD57F08A7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009C2C-E4F1-4761-BB49-7E210CF4AC1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F882910-73F3-4DE7-B4D6-53BBA8434F60}"/>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D7EDDEF-DDE4-4AE1-9C47-F171D84F4E6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AF701F7-3CB5-4A04-84C5-20BEF24BC1E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38599684"/>
      </p:ext>
    </p:extLst>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319272"/>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8" name="TextBox 7">
            <a:extLst>
              <a:ext uri="{FF2B5EF4-FFF2-40B4-BE49-F238E27FC236}">
                <a16:creationId xmlns:a16="http://schemas.microsoft.com/office/drawing/2014/main" id="{201B0BA7-02D4-184F-9122-36E85877924B}"/>
              </a:ext>
            </a:extLst>
          </p:cNvPr>
          <p:cNvSpPr txBox="1"/>
          <p:nvPr userDrawn="1"/>
        </p:nvSpPr>
        <p:spPr>
          <a:xfrm>
            <a:off x="218662" y="6510129"/>
            <a:ext cx="5675106" cy="276999"/>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9" name="Graphic 4">
            <a:extLst>
              <a:ext uri="{FF2B5EF4-FFF2-40B4-BE49-F238E27FC236}">
                <a16:creationId xmlns:a16="http://schemas.microsoft.com/office/drawing/2014/main" id="{D781A195-7994-4D09-936D-F8FAAF565D7E}"/>
              </a:ext>
            </a:extLst>
          </p:cNvPr>
          <p:cNvGrpSpPr/>
          <p:nvPr userDrawn="1"/>
        </p:nvGrpSpPr>
        <p:grpSpPr>
          <a:xfrm>
            <a:off x="298311" y="5827455"/>
            <a:ext cx="1375944" cy="307029"/>
            <a:chOff x="2497995" y="2687207"/>
            <a:chExt cx="5762625" cy="1285875"/>
          </a:xfrm>
        </p:grpSpPr>
        <p:sp>
          <p:nvSpPr>
            <p:cNvPr id="12" name="Freeform: Shape 11">
              <a:extLst>
                <a:ext uri="{FF2B5EF4-FFF2-40B4-BE49-F238E27FC236}">
                  <a16:creationId xmlns:a16="http://schemas.microsoft.com/office/drawing/2014/main" id="{18D796DD-7A83-49B1-94BC-337AACFB134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1A1198B-9088-4D79-8402-E3EA1D03C41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F8D276-8249-4287-983C-3D0136D63DE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A44B308-1376-41A4-804F-C81057C6CE66}"/>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3D8C2A-7E43-48CA-9421-20427D167EE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43078583"/>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8" name="TextBox 7">
            <a:extLst>
              <a:ext uri="{FF2B5EF4-FFF2-40B4-BE49-F238E27FC236}">
                <a16:creationId xmlns:a16="http://schemas.microsoft.com/office/drawing/2014/main" id="{35935E3B-B8A1-7849-911E-014BE2C9DF25}"/>
              </a:ext>
            </a:extLst>
          </p:cNvPr>
          <p:cNvSpPr txBox="1"/>
          <p:nvPr userDrawn="1"/>
        </p:nvSpPr>
        <p:spPr>
          <a:xfrm>
            <a:off x="218662" y="6510129"/>
            <a:ext cx="7645178"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1933F728-2694-4C8D-8A4A-20A42F02F634}"/>
              </a:ext>
            </a:extLst>
          </p:cNvPr>
          <p:cNvGrpSpPr/>
          <p:nvPr userDrawn="1"/>
        </p:nvGrpSpPr>
        <p:grpSpPr>
          <a:xfrm>
            <a:off x="298311" y="5827455"/>
            <a:ext cx="1375944" cy="307029"/>
            <a:chOff x="2497995" y="2687207"/>
            <a:chExt cx="5762625" cy="1285875"/>
          </a:xfrm>
        </p:grpSpPr>
        <p:sp>
          <p:nvSpPr>
            <p:cNvPr id="13" name="Freeform: Shape 12">
              <a:extLst>
                <a:ext uri="{FF2B5EF4-FFF2-40B4-BE49-F238E27FC236}">
                  <a16:creationId xmlns:a16="http://schemas.microsoft.com/office/drawing/2014/main" id="{43BDC86F-18E3-4EA9-9BE4-6371B199D42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9F12E5F-FC5E-4B7B-BAB6-B1CEF3F5A08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AA20F8B-C3C9-4D4A-B994-F1D7CB9D7D62}"/>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45968A8-5C86-4EC0-81E8-EA3966571BD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487694-0371-4FDB-9884-8F9A5D0F7B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832970"/>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Ubuntu" panose="020B050403060203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 accumsan quam vitae ligula tincidunt tristique.</a:t>
            </a:r>
          </a:p>
          <a:p>
            <a:r>
              <a:rPr lang="en-SG"/>
              <a:t>Nam ac eros ac purus sagittis viverra.</a:t>
            </a:r>
          </a:p>
          <a:p>
            <a:r>
              <a:rPr lang="en-SG"/>
              <a:t>Maecenas rhoncus nibh eu ligula sagittis, sed efficitur risus semper.</a:t>
            </a:r>
          </a:p>
          <a:p>
            <a:r>
              <a:rPr lang="en-SG"/>
              <a:t>Aenean interdum nibh et ex mattis blandit.</a:t>
            </a:r>
          </a:p>
          <a:p>
            <a:r>
              <a:rPr lang="en-SG" err="1"/>
              <a:t>Sed sit amet nunc sed enim lobortis fringilla.</a:t>
            </a:r>
          </a:p>
        </p:txBody>
      </p:sp>
      <p:sp>
        <p:nvSpPr>
          <p:cNvPr id="18" name="Google Shape;64;p14">
            <a:extLst>
              <a:ext uri="{FF2B5EF4-FFF2-40B4-BE49-F238E27FC236}">
                <a16:creationId xmlns:a16="http://schemas.microsoft.com/office/drawing/2014/main" id="{7CC5842D-1B5F-1745-BA09-C2C13764642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0" name="TextBox 19">
            <a:extLst>
              <a:ext uri="{FF2B5EF4-FFF2-40B4-BE49-F238E27FC236}">
                <a16:creationId xmlns:a16="http://schemas.microsoft.com/office/drawing/2014/main" id="{360E05A3-2EDA-7E4A-B617-2E84CDBDC99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1"/>
                </a:solidFill>
                <a:latin typeface="Ubuntu" panose="020B0504030602030204" pitchFamily="34" charset="0"/>
              </a:rPr>
              <a:pPr algn="r"/>
              <a:t>‹#›</a:t>
            </a:fld>
            <a:endParaRPr lang="en-US" sz="600">
              <a:solidFill>
                <a:schemeClr val="tx1"/>
              </a:solidFill>
              <a:latin typeface="Ubuntu" panose="020B0504030602030204" pitchFamily="34" charset="0"/>
            </a:endParaRPr>
          </a:p>
        </p:txBody>
      </p:sp>
      <p:cxnSp>
        <p:nvCxnSpPr>
          <p:cNvPr id="23" name="Straight Connector 22">
            <a:extLst>
              <a:ext uri="{FF2B5EF4-FFF2-40B4-BE49-F238E27FC236}">
                <a16:creationId xmlns:a16="http://schemas.microsoft.com/office/drawing/2014/main" id="{C479E925-2F4D-8D49-B361-CE649FC723B8}"/>
              </a:ext>
            </a:extLst>
          </p:cNvPr>
          <p:cNvCxnSpPr/>
          <p:nvPr userDrawn="1"/>
        </p:nvCxnSpPr>
        <p:spPr>
          <a:xfrm flipH="1">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aphic 4">
            <a:extLst>
              <a:ext uri="{FF2B5EF4-FFF2-40B4-BE49-F238E27FC236}">
                <a16:creationId xmlns:a16="http://schemas.microsoft.com/office/drawing/2014/main" id="{290072D3-41B4-47A9-B51A-5400D022F8F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9B3FD924-6CC2-4B5C-8CC5-9BC873824A8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07E353A-21D1-43E3-92A1-10EAEDD9731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AE1B86-D3CA-4345-9F1E-A7EBD22D6F5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AF522DF-F0DE-4196-ABD9-DAC7B08FDABC}"/>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6BAA31-2EA4-48B0-8A99-18DB8C97912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28761803"/>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FDB5EAC4-F3C3-7543-82F1-FF356039CF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2E0462F4-6B7A-E746-B632-282B9F95343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4D12A909-0C03-ED41-9457-950D54BBFFA1}"/>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D41492D-AC8E-1849-8763-0C32EFE32BDE}"/>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16BE1E2-3FC2-4A5D-AB73-CF12163B4712}"/>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286D1707-0885-4ABA-AD39-AE792CAF1157}"/>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987C44F-6B75-41FA-9424-1E391EC27FB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8434ED5-8125-4A19-826D-DA43C20516E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2B1BFB9-0157-43B2-9FB8-F58C862F40D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5ADA3F-E976-4AFB-8167-FD654C40A34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9430825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vider_3">
    <p:bg>
      <p:bgPr>
        <a:solidFill>
          <a:schemeClr val="accent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60" y="6395991"/>
            <a:ext cx="4216500" cy="3936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en-SG" sz="600" kern="1200">
              <a:solidFill>
                <a:schemeClr val="bg1"/>
              </a:solidFill>
              <a:effectLst/>
              <a:latin typeface="Ubuntu" panose="020B0504030602030204" pitchFamily="34" charset="0"/>
              <a:ea typeface="+mn-ea"/>
              <a:cs typeface="+mn-cs"/>
            </a:endParaRP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4715C81-3C41-D54C-AE7B-612698F325E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1" name="Graphic 4">
            <a:extLst>
              <a:ext uri="{FF2B5EF4-FFF2-40B4-BE49-F238E27FC236}">
                <a16:creationId xmlns:a16="http://schemas.microsoft.com/office/drawing/2014/main" id="{A7C4CA96-37FB-4C5D-B156-54E3E44595B9}"/>
              </a:ext>
            </a:extLst>
          </p:cNvPr>
          <p:cNvGrpSpPr/>
          <p:nvPr userDrawn="1"/>
        </p:nvGrpSpPr>
        <p:grpSpPr>
          <a:xfrm>
            <a:off x="270243" y="6517798"/>
            <a:ext cx="724037" cy="161562"/>
            <a:chOff x="2497995" y="2687207"/>
            <a:chExt cx="5762625" cy="1285875"/>
          </a:xfrm>
        </p:grpSpPr>
        <p:sp>
          <p:nvSpPr>
            <p:cNvPr id="22" name="Freeform: Shape 21">
              <a:extLst>
                <a:ext uri="{FF2B5EF4-FFF2-40B4-BE49-F238E27FC236}">
                  <a16:creationId xmlns:a16="http://schemas.microsoft.com/office/drawing/2014/main" id="{26951F4D-E50A-4838-B007-E53EE5DB4FB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773A21-7951-4F51-B7D8-D72D355CCF4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843CD98-00B0-4F4F-874F-77E6203F60B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C2623F-434A-4DB2-8580-EEBD73F444B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A406679-A5D9-49BA-964A-F139524E1C2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9557876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3281093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5"/>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7DE89196-85ED-A843-BD5C-973DBCB51D38}"/>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B9EBA46-D479-4CCE-B014-52F51C20E895}"/>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9B84618-8FC9-4DFE-8FBF-8FE4316C37D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893ECA7-4D1C-4F8B-9141-EF87BB6CE23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A42702-9EE5-4F6D-ADD7-24CE4E15C4B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CB3162-FD50-4A6A-A3D0-3D81A4BFB257}"/>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7078597-1B13-4BB5-B07B-64EF0FB5C75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27923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89E0AE5D-D3B2-46EF-8C6F-AE1AE225BF74}"/>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A7A2C464-9237-4A7A-BB11-7E699826E35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BB4FCB1-FC72-439B-907F-F53F2C090F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97B2CE9-AE45-47F3-BF37-B9BFBCAC91B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9C336D-D3B7-4068-85A3-4AD916804EF5}"/>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938C117-B27B-46A6-AAA5-72B62AD39B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549480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divider_3">
    <p:bg>
      <p:bgPr>
        <a:solidFill>
          <a:schemeClr val="accent6"/>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F57998B-72D7-400D-990C-B75A9323273F}"/>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9AC61291-80FA-4743-81C3-A9AEB174EC8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2779C99-BBF8-4337-A1C4-061B3C7FC5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169C8E-4534-44FE-8CBE-F1BBD84730D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7333C0-6859-4526-8277-6C18F1D2B15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7186D9-6B04-4C52-B4C4-272AAD61627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141554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vider_3">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aphic 4">
            <a:extLst>
              <a:ext uri="{FF2B5EF4-FFF2-40B4-BE49-F238E27FC236}">
                <a16:creationId xmlns:a16="http://schemas.microsoft.com/office/drawing/2014/main" id="{BF9997A0-6952-4384-95AB-6466C0BBE4E4}"/>
              </a:ext>
            </a:extLst>
          </p:cNvPr>
          <p:cNvGrpSpPr/>
          <p:nvPr userDrawn="1"/>
        </p:nvGrpSpPr>
        <p:grpSpPr>
          <a:xfrm>
            <a:off x="270243" y="6517798"/>
            <a:ext cx="724037" cy="161562"/>
            <a:chOff x="2497995" y="2687207"/>
            <a:chExt cx="5762625" cy="1285875"/>
          </a:xfrm>
          <a:solidFill>
            <a:schemeClr val="bg1"/>
          </a:solidFill>
        </p:grpSpPr>
        <p:sp>
          <p:nvSpPr>
            <p:cNvPr id="10" name="Freeform: Shape 9">
              <a:extLst>
                <a:ext uri="{FF2B5EF4-FFF2-40B4-BE49-F238E27FC236}">
                  <a16:creationId xmlns:a16="http://schemas.microsoft.com/office/drawing/2014/main" id="{D4F6A8FC-16C8-4AD8-ADD7-523462F568C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849092-6632-44B6-925D-7A97C422D1F1}"/>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85B86C-CCA5-499F-859A-46F662A7EF6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420CB65-881D-41F8-8258-71A3B4F86A5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E83BC1B-DADB-4871-9458-B076F6B1F3F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0372413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aphic 4">
            <a:extLst>
              <a:ext uri="{FF2B5EF4-FFF2-40B4-BE49-F238E27FC236}">
                <a16:creationId xmlns:a16="http://schemas.microsoft.com/office/drawing/2014/main" id="{79BA7D10-4757-436A-8C09-E133A7F111F1}"/>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F591BFF9-D792-4AF8-ACB1-FCC09C632E9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98C6562-5A22-4381-814B-6CCB5F61EE9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7F5E4DE-2E65-49C8-8B19-05A759D930F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7C5D5D8-CAE2-4A5B-B049-E4CEE0DB959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783763D-FDB5-476F-9DA5-C6226F6DEA0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5122721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divider_3">
    <p:bg>
      <p:bgPr>
        <a:solidFill>
          <a:schemeClr val="accent2"/>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6693618-A44F-E347-9857-26B9F756C893}"/>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E8EB370-14C3-374A-8B05-C964404D9BD6}"/>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CF948EC8-A6F9-4444-8721-6E0549A693F1}"/>
              </a:ext>
            </a:extLst>
          </p:cNvPr>
          <p:cNvSpPr txBox="1"/>
          <p:nvPr userDrawn="1"/>
        </p:nvSpPr>
        <p:spPr>
          <a:xfrm>
            <a:off x="1076459" y="6395991"/>
            <a:ext cx="448986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18124C8F-E9AC-F84F-97C8-3CCCA089E45F}"/>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523BC8AD-4651-2149-A9F5-3541B2E9BB75}"/>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6367DE86-1680-420F-AB6E-99AC884D349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0E9B03DF-CA6F-4225-8116-75FE0F264C0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194FAAF-DE26-48C0-8522-BB735A69803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817D64-9690-4D47-993D-A5CFF989726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04BB4D5-7EA7-4A84-BC80-7290CF76F89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3D4E17C-1A2C-461D-95B7-24C116877501}"/>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183025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vider_2">
    <p:bg>
      <p:bgPr>
        <a:solidFill>
          <a:schemeClr val="accent4"/>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6BD9331-23E0-4ADE-898A-8BBB24F52899}"/>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EB552690-BC70-4488-8AE6-C31EF6B2EEBD}"/>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539346E-A419-4B95-AAA2-9D6AC6A0E3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AACADE8-EA17-449C-B024-AF5986525BA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EE11BA0-E08E-4AF4-AECB-EC4CC91C8CC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9E95673-1AE9-4B5A-8478-A179CC7610B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28675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divider_3">
    <p:bg>
      <p:bgPr>
        <a:solidFill>
          <a:schemeClr val="accent5"/>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13C133EF-2FC5-AB48-887B-95D54302CEBC}"/>
              </a:ext>
            </a:extLst>
          </p:cNvPr>
          <p:cNvSpPr>
            <a:spLocks noGrp="1"/>
          </p:cNvSpPr>
          <p:nvPr>
            <p:ph type="body" sz="quarter" idx="10" hasCustomPrompt="1"/>
          </p:nvPr>
        </p:nvSpPr>
        <p:spPr>
          <a:xfrm>
            <a:off x="591399" y="572679"/>
            <a:ext cx="4489887" cy="2010266"/>
          </a:xfrm>
          <a:prstGeom prst="rect">
            <a:avLst/>
          </a:prstGeom>
          <a:ln>
            <a:noFill/>
          </a:ln>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D27BAE1-B3AD-324F-B750-59315F7EF4CA}"/>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BC7E5689-F233-7B49-A402-9C3573AC4B08}"/>
              </a:ext>
            </a:extLst>
          </p:cNvPr>
          <p:cNvSpPr txBox="1"/>
          <p:nvPr userDrawn="1"/>
        </p:nvSpPr>
        <p:spPr>
          <a:xfrm>
            <a:off x="1076459" y="6395991"/>
            <a:ext cx="44898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9CE101FC-B5BA-EF44-9E84-BE1459CD348B}"/>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707A4633-8B73-BE44-9B9D-420F3BE1856F}"/>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079E23C5-9E18-40A5-BF77-ADEB6EF7835B}"/>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2A6EFC21-7F1F-4233-B1C7-616DEC8DF79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91E9752-3077-4D2A-91E4-B59BB60E5DB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DCB9ACF-4B2C-410C-9E8C-4FBA15A5233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02EC6DB-C2AA-49C2-B20E-E1DDE30F509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CB2B8-44B7-46CD-82E0-73D49761657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4688688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vider_2">
    <p:bg>
      <p:bgPr>
        <a:solidFill>
          <a:schemeClr val="accent6"/>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aphic 4">
            <a:extLst>
              <a:ext uri="{FF2B5EF4-FFF2-40B4-BE49-F238E27FC236}">
                <a16:creationId xmlns:a16="http://schemas.microsoft.com/office/drawing/2014/main" id="{2FDF0A0E-F0DA-4964-B2DC-B8A44E9BC711}"/>
              </a:ext>
            </a:extLst>
          </p:cNvPr>
          <p:cNvGrpSpPr/>
          <p:nvPr userDrawn="1"/>
        </p:nvGrpSpPr>
        <p:grpSpPr>
          <a:xfrm>
            <a:off x="270243" y="6517798"/>
            <a:ext cx="724037" cy="161562"/>
            <a:chOff x="2497995" y="2687207"/>
            <a:chExt cx="5762625" cy="1285875"/>
          </a:xfrm>
          <a:solidFill>
            <a:schemeClr val="bg1"/>
          </a:solidFill>
        </p:grpSpPr>
        <p:sp>
          <p:nvSpPr>
            <p:cNvPr id="11" name="Freeform: Shape 10">
              <a:extLst>
                <a:ext uri="{FF2B5EF4-FFF2-40B4-BE49-F238E27FC236}">
                  <a16:creationId xmlns:a16="http://schemas.microsoft.com/office/drawing/2014/main" id="{815EF71F-C53E-4A1D-9AE4-948A0734CF9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3654541-9AF9-47A5-9491-6C479A6621E5}"/>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D83FFE-E9B7-47F0-B632-8573ED5BA82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32095E7-34E3-4323-A97C-2E45C0B249C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0A9193D-E791-40DD-A0CB-241069DC833A}"/>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3909553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10996612" cy="2408238"/>
          </a:xfrm>
          <a:prstGeom prst="rect">
            <a:avLst/>
          </a:prstGeom>
        </p:spPr>
        <p:txBody>
          <a:bodyPr/>
          <a:lstStyle>
            <a:lvl1pPr marL="0" indent="0">
              <a:lnSpc>
                <a:spcPct val="110000"/>
              </a:lnSpc>
              <a:spcBef>
                <a:spcPts val="2200"/>
              </a:spcBef>
              <a:buNone/>
              <a:defRPr sz="1400">
                <a:ln>
                  <a:noFill/>
                </a:ln>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5975F8B-35DA-1D40-A8CD-8FCD704A74A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8FBE45C6-297A-4C4F-A7CC-94C46292EE48}"/>
              </a:ext>
            </a:extLst>
          </p:cNvPr>
          <p:cNvGrpSpPr/>
          <p:nvPr userDrawn="1"/>
        </p:nvGrpSpPr>
        <p:grpSpPr>
          <a:xfrm>
            <a:off x="270243" y="6517798"/>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B6ABDCD-263C-4949-B3FF-B2627D44024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828EEC-7656-4EF2-A31D-412CD05675A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CA76616-23FF-4123-AD49-F6D903BB87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82793D5-3395-419F-AD6F-E56DE56635B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B89C0D-A23B-49A0-9B3C-4493E6822A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363717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p>
          <a:p>
            <a:pPr lvl="0"/>
            <a:r>
              <a:rPr lang="en-SG"/>
              <a:t>Donec facilisis lectus fringilla, congue erat ut, feugiat arcu. Vestibulum non magna in diam lobortis tincidunt. Cras vel cursus libero. Mauris sed convallis nisi. Aliquam eget justo quis lacus euismod pulvinar. </a:t>
            </a:r>
            <a:endParaRPr lang="en-US"/>
          </a:p>
        </p:txBody>
      </p:sp>
      <p:sp>
        <p:nvSpPr>
          <p:cNvPr id="9" name="Text Placeholder 18">
            <a:extLst>
              <a:ext uri="{FF2B5EF4-FFF2-40B4-BE49-F238E27FC236}">
                <a16:creationId xmlns:a16="http://schemas.microsoft.com/office/drawing/2014/main" id="{89E17B67-827C-2440-845C-AB18B943F81B}"/>
              </a:ext>
            </a:extLst>
          </p:cNvPr>
          <p:cNvSpPr>
            <a:spLocks noGrp="1"/>
          </p:cNvSpPr>
          <p:nvPr>
            <p:ph type="body" sz="quarter" idx="11" hasCustomPrompt="1"/>
          </p:nvPr>
        </p:nvSpPr>
        <p:spPr>
          <a:xfrm>
            <a:off x="6226959"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a:t>
            </a:r>
          </a:p>
          <a:p>
            <a:pPr lvl="0"/>
            <a:r>
              <a:rPr lang="en-SG"/>
              <a:t>Vestibulum non magna in diam lobortis tincidunt. Cras vel cursus libero. Mauris sed convallis nisi. Aliquam eget justo quis lacus euismod pulvinar. </a:t>
            </a:r>
            <a:endParaRPr lang="en-US"/>
          </a:p>
        </p:txBody>
      </p:sp>
      <p:cxnSp>
        <p:nvCxnSpPr>
          <p:cNvPr id="12" name="Google Shape;65;p14">
            <a:extLst>
              <a:ext uri="{FF2B5EF4-FFF2-40B4-BE49-F238E27FC236}">
                <a16:creationId xmlns:a16="http://schemas.microsoft.com/office/drawing/2014/main" id="{8BAADCCA-6C2F-A341-9037-B9F4CB2EC7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3" name="TextBox 12">
            <a:extLst>
              <a:ext uri="{FF2B5EF4-FFF2-40B4-BE49-F238E27FC236}">
                <a16:creationId xmlns:a16="http://schemas.microsoft.com/office/drawing/2014/main" id="{E8E2F222-BB16-8D4D-B7F5-0FAA151BBA5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A6DFFF59-F2C8-464E-BBF0-A1013BC67B13}"/>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8E2CCB43-C1BD-2B42-AC5E-A6CA6721A555}"/>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F23AF8E6-D610-4F9F-A590-29A3EFA43C45}"/>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F12D5E7A-92D3-4D53-B8C3-21A36385B8B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CF49427-308E-4609-85BE-77864C8808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63D058E-3959-4FF6-A09B-ED3DBF1DC8A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9E3A2C3-E49E-45BB-AD39-669F4F8687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8BF172-BD92-42B8-B5F5-4BE4348A449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5686787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1043793"/>
            <a:ext cx="4826644" cy="3790173"/>
          </a:xfrm>
          <a:prstGeom prst="rect">
            <a:avLst/>
          </a:prstGeom>
        </p:spPr>
        <p:txBody>
          <a:bodyPr/>
          <a:lstStyle>
            <a:lvl1pPr>
              <a:defRPr sz="4400" b="1">
                <a:solidFill>
                  <a:schemeClr val="accent2"/>
                </a:solidFill>
                <a:latin typeface="Ubuntu" panose="020B0504030602030204" pitchFamily="34" charset="0"/>
              </a:defRPr>
            </a:lvl1pPr>
          </a:lstStyle>
          <a:p>
            <a:r>
              <a:rPr lang="en-GB"/>
              <a:t>Slide title goes here lorem ipsum 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215605" y="1043792"/>
            <a:ext cx="5382670" cy="450047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p>
          <a:p>
            <a:pPr lvl="0"/>
            <a:r>
              <a:rPr lang="en-SG" err="1"/>
              <a:t>Etiam sollicitudin dui ut elit lacinia, vitae aliquet nunc scelerisque. Duis ut sem bibendum, vehicula ligula non, varius eros. Duis tristique velit lectus, dapibus ullamcorper dui condimentum id. Duis felis odio, pulvinar in quam a, vehicula lobortis nulla. Fusce ut tincidunt arcu. Vivamus gravida ut enim et varius. Orci varius natoque penatibus et magnis dis parturient montes, nascetur ridiculus mus.</a:t>
            </a:r>
            <a:endParaRPr lang="en-US"/>
          </a:p>
        </p:txBody>
      </p:sp>
      <p:cxnSp>
        <p:nvCxnSpPr>
          <p:cNvPr id="11" name="Google Shape;65;p14">
            <a:extLst>
              <a:ext uri="{FF2B5EF4-FFF2-40B4-BE49-F238E27FC236}">
                <a16:creationId xmlns:a16="http://schemas.microsoft.com/office/drawing/2014/main" id="{6363D6F1-C343-8B46-B1C2-5CFAB7508338}"/>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750B8EF-804F-4E44-93DB-68D9364AA67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D090540D-D709-8D4A-950F-AF865624943E}"/>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7DF7FA0-EADA-7F4C-A367-7A75FACB1DC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03FD7596-ABA5-4DD3-AE54-083177813D28}"/>
              </a:ext>
            </a:extLst>
          </p:cNvPr>
          <p:cNvGrpSpPr/>
          <p:nvPr userDrawn="1"/>
        </p:nvGrpSpPr>
        <p:grpSpPr>
          <a:xfrm>
            <a:off x="270243" y="6504919"/>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27B8EDA-2AAF-4199-99AF-7ECC8188A8E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03580BF-888D-499C-A59A-9AC2695D7C5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10CE5-2780-43A6-9AEA-1324E26041A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78C4F4-9D71-45D1-8538-E8B24485163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564E182-1A1C-49EC-AF62-DF7BF6182A7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8567882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_white_4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995913"/>
            <a:ext cx="2565607" cy="402961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2" name="Text Placeholder 18">
            <a:extLst>
              <a:ext uri="{FF2B5EF4-FFF2-40B4-BE49-F238E27FC236}">
                <a16:creationId xmlns:a16="http://schemas.microsoft.com/office/drawing/2014/main" id="{53612460-C62C-9948-A42A-46D52DE19125}"/>
              </a:ext>
            </a:extLst>
          </p:cNvPr>
          <p:cNvSpPr>
            <a:spLocks noGrp="1"/>
          </p:cNvSpPr>
          <p:nvPr>
            <p:ph type="body" sz="quarter" idx="11" hasCustomPrompt="1"/>
          </p:nvPr>
        </p:nvSpPr>
        <p:spPr>
          <a:xfrm>
            <a:off x="3411124"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3" name="Text Placeholder 18">
            <a:extLst>
              <a:ext uri="{FF2B5EF4-FFF2-40B4-BE49-F238E27FC236}">
                <a16:creationId xmlns:a16="http://schemas.microsoft.com/office/drawing/2014/main" id="{8749DF92-B411-394B-8C8C-CF611D9284BF}"/>
              </a:ext>
            </a:extLst>
          </p:cNvPr>
          <p:cNvSpPr>
            <a:spLocks noGrp="1"/>
          </p:cNvSpPr>
          <p:nvPr>
            <p:ph type="body" sz="quarter" idx="12" hasCustomPrompt="1"/>
          </p:nvPr>
        </p:nvSpPr>
        <p:spPr>
          <a:xfrm>
            <a:off x="6207333"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4" name="Text Placeholder 18">
            <a:extLst>
              <a:ext uri="{FF2B5EF4-FFF2-40B4-BE49-F238E27FC236}">
                <a16:creationId xmlns:a16="http://schemas.microsoft.com/office/drawing/2014/main" id="{2F703496-04EA-E944-BC3B-F31EA1EC1F61}"/>
              </a:ext>
            </a:extLst>
          </p:cNvPr>
          <p:cNvSpPr>
            <a:spLocks noGrp="1"/>
          </p:cNvSpPr>
          <p:nvPr>
            <p:ph type="body" sz="quarter" idx="13" hasCustomPrompt="1"/>
          </p:nvPr>
        </p:nvSpPr>
        <p:spPr>
          <a:xfrm>
            <a:off x="9030047"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cxnSp>
        <p:nvCxnSpPr>
          <p:cNvPr id="21" name="Google Shape;65;p14">
            <a:extLst>
              <a:ext uri="{FF2B5EF4-FFF2-40B4-BE49-F238E27FC236}">
                <a16:creationId xmlns:a16="http://schemas.microsoft.com/office/drawing/2014/main" id="{3762B7AF-C38E-4148-B827-2518A2154F3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23" name="TextBox 22">
            <a:extLst>
              <a:ext uri="{FF2B5EF4-FFF2-40B4-BE49-F238E27FC236}">
                <a16:creationId xmlns:a16="http://schemas.microsoft.com/office/drawing/2014/main" id="{3F42CD3F-620A-B241-B6E4-02A549F5D47A}"/>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26" name="Straight Connector 25">
            <a:extLst>
              <a:ext uri="{FF2B5EF4-FFF2-40B4-BE49-F238E27FC236}">
                <a16:creationId xmlns:a16="http://schemas.microsoft.com/office/drawing/2014/main" id="{0668405C-07F7-2045-86D5-CC221752DDB4}"/>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oogle Shape;64;p14">
            <a:extLst>
              <a:ext uri="{FF2B5EF4-FFF2-40B4-BE49-F238E27FC236}">
                <a16:creationId xmlns:a16="http://schemas.microsoft.com/office/drawing/2014/main" id="{181F7300-A56D-FD4F-A36A-73479E41EE3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D038DE06-0A52-4C29-B9EE-CB34E8B22059}"/>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A590D3B8-8E45-4CCA-B253-01E4150E3E9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1B88449-B902-42EF-9200-9397AB1776D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E84BD8-3FC5-4C62-B31B-71A17415417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0B80018-043A-46D4-96E7-BCDD809501E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F4CE829-6834-4F6B-B720-5128FCDAA1C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2327856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6"/>
            <a:ext cx="5401246" cy="1146097"/>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5401572" cy="343327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6188767" y="-1"/>
            <a:ext cx="6003233" cy="6858001"/>
          </a:xfrm>
          <a:prstGeom prst="rect">
            <a:avLst/>
          </a:prstGeom>
          <a:solidFill>
            <a:schemeClr val="bg2">
              <a:lumMod val="90000"/>
            </a:schemeClr>
          </a:solidFill>
        </p:spPr>
        <p:txBody>
          <a:bodyPr/>
          <a:lstStyle/>
          <a:p>
            <a:endParaRPr lang="en-US"/>
          </a:p>
        </p:txBody>
      </p:sp>
      <p:cxnSp>
        <p:nvCxnSpPr>
          <p:cNvPr id="14" name="Google Shape;65;p14">
            <a:extLst>
              <a:ext uri="{FF2B5EF4-FFF2-40B4-BE49-F238E27FC236}">
                <a16:creationId xmlns:a16="http://schemas.microsoft.com/office/drawing/2014/main" id="{D09E51BF-723F-FA4E-8800-37E5A9D7912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6" name="Straight Connector 15">
            <a:extLst>
              <a:ext uri="{FF2B5EF4-FFF2-40B4-BE49-F238E27FC236}">
                <a16:creationId xmlns:a16="http://schemas.microsoft.com/office/drawing/2014/main" id="{A630479D-8B78-9A4E-87C1-9ABCC272525A}"/>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C27C6EFF-792E-094B-B4B2-9240F319E9E8}"/>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A88E8B69-29B9-40B1-8B67-6C213BB7A289}"/>
              </a:ext>
            </a:extLst>
          </p:cNvPr>
          <p:cNvGrpSpPr/>
          <p:nvPr userDrawn="1"/>
        </p:nvGrpSpPr>
        <p:grpSpPr>
          <a:xfrm>
            <a:off x="270243" y="6517798"/>
            <a:ext cx="724037" cy="161562"/>
            <a:chOff x="2497995" y="2687207"/>
            <a:chExt cx="5762625" cy="1285875"/>
          </a:xfrm>
          <a:solidFill>
            <a:schemeClr val="bg1"/>
          </a:solidFill>
        </p:grpSpPr>
        <p:sp>
          <p:nvSpPr>
            <p:cNvPr id="13" name="Freeform: Shape 12">
              <a:extLst>
                <a:ext uri="{FF2B5EF4-FFF2-40B4-BE49-F238E27FC236}">
                  <a16:creationId xmlns:a16="http://schemas.microsoft.com/office/drawing/2014/main" id="{29FB5596-C7E1-48C7-ACFD-69AF3AB71C0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B20A447-4F65-4089-8A4D-853E690FC7B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F62AADC-BAAA-4BE7-9377-7ECEE200493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6B7C2F-A22C-4DB1-9263-8755BEC404A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9D9A34A-E5CB-49CC-85A9-15E85B8F98F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354543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7"/>
            <a:ext cx="5401246" cy="8576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8070112" y="-1"/>
            <a:ext cx="4121888" cy="6858001"/>
          </a:xfrm>
          <a:prstGeom prst="rect">
            <a:avLst/>
          </a:prstGeom>
          <a:solidFill>
            <a:schemeClr val="bg2">
              <a:lumMod val="90000"/>
            </a:schemeClr>
          </a:solidFill>
        </p:spPr>
        <p:txBody>
          <a:bodyPr/>
          <a:lstStyle/>
          <a:p>
            <a:endParaRPr lang="en-US"/>
          </a:p>
        </p:txBody>
      </p:sp>
      <p:sp>
        <p:nvSpPr>
          <p:cNvPr id="14" name="Text Placeholder 18">
            <a:extLst>
              <a:ext uri="{FF2B5EF4-FFF2-40B4-BE49-F238E27FC236}">
                <a16:creationId xmlns:a16="http://schemas.microsoft.com/office/drawing/2014/main" id="{806B764E-EDFD-804F-81F4-D1E8C388A42F}"/>
              </a:ext>
            </a:extLst>
          </p:cNvPr>
          <p:cNvSpPr>
            <a:spLocks noGrp="1"/>
          </p:cNvSpPr>
          <p:nvPr>
            <p:ph type="body" sz="quarter" idx="12" hasCustomPrompt="1"/>
          </p:nvPr>
        </p:nvSpPr>
        <p:spPr>
          <a:xfrm>
            <a:off x="4333690"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5" name="Google Shape;65;p14">
            <a:extLst>
              <a:ext uri="{FF2B5EF4-FFF2-40B4-BE49-F238E27FC236}">
                <a16:creationId xmlns:a16="http://schemas.microsoft.com/office/drawing/2014/main" id="{42F48292-40D8-FF42-906A-1FE62276F46F}"/>
              </a:ext>
            </a:extLst>
          </p:cNvPr>
          <p:cNvCxnSpPr/>
          <p:nvPr userDrawn="1"/>
        </p:nvCxnSpPr>
        <p:spPr>
          <a:xfrm>
            <a:off x="298311" y="6407566"/>
            <a:ext cx="7555605"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EE7FD399-DAA0-0C4D-B047-288612F9C0D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64;p14">
            <a:extLst>
              <a:ext uri="{FF2B5EF4-FFF2-40B4-BE49-F238E27FC236}">
                <a16:creationId xmlns:a16="http://schemas.microsoft.com/office/drawing/2014/main" id="{5680EE9D-E1D7-5645-B319-6C506BB4A582}"/>
              </a:ext>
            </a:extLst>
          </p:cNvPr>
          <p:cNvSpPr txBox="1"/>
          <p:nvPr userDrawn="1"/>
        </p:nvSpPr>
        <p:spPr>
          <a:xfrm>
            <a:off x="1076460" y="6395991"/>
            <a:ext cx="791514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17EE12F0-88EB-4312-9673-73E3EA9143C4}"/>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E84F1694-EEBD-462A-B599-0BD11603C56F}"/>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AF4003-9AFB-4105-8E6A-ADF98D707D70}"/>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2A1B48-1B59-431C-B215-16224926B19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D5540D3-AFB4-407D-96D2-88C36C53B5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2615C4-41E4-4AE4-B1C2-ADB2951CBD2D}"/>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5737584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oogle Shape;64;p14">
            <a:extLst>
              <a:ext uri="{FF2B5EF4-FFF2-40B4-BE49-F238E27FC236}">
                <a16:creationId xmlns:a16="http://schemas.microsoft.com/office/drawing/2014/main" id="{3A242881-5F52-F74C-861F-E5D485EF72F1}"/>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0" name="Graphic 4">
            <a:extLst>
              <a:ext uri="{FF2B5EF4-FFF2-40B4-BE49-F238E27FC236}">
                <a16:creationId xmlns:a16="http://schemas.microsoft.com/office/drawing/2014/main" id="{A247E254-F184-4DBA-89F6-BF3F96A073FC}"/>
              </a:ext>
            </a:extLst>
          </p:cNvPr>
          <p:cNvGrpSpPr/>
          <p:nvPr userDrawn="1"/>
        </p:nvGrpSpPr>
        <p:grpSpPr>
          <a:xfrm>
            <a:off x="270243" y="6517798"/>
            <a:ext cx="724037" cy="161562"/>
            <a:chOff x="2497995" y="2687207"/>
            <a:chExt cx="5762625" cy="1285875"/>
          </a:xfrm>
        </p:grpSpPr>
        <p:sp>
          <p:nvSpPr>
            <p:cNvPr id="13" name="Freeform: Shape 12">
              <a:extLst>
                <a:ext uri="{FF2B5EF4-FFF2-40B4-BE49-F238E27FC236}">
                  <a16:creationId xmlns:a16="http://schemas.microsoft.com/office/drawing/2014/main" id="{780E53FB-83D9-4A35-9FD0-FD3F565C1B3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940B724-A27C-4A06-B04E-C12CD5830AF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A65FC25-C722-4FF9-9F00-6841CA6EE0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DD224E-23B6-47C9-884F-933C7C4F51C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C47E75-9830-4288-B0FF-5A3F11030B0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2674251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sp>
        <p:nvSpPr>
          <p:cNvPr id="6" name="Google Shape;64;p14">
            <a:extLst>
              <a:ext uri="{FF2B5EF4-FFF2-40B4-BE49-F238E27FC236}">
                <a16:creationId xmlns:a16="http://schemas.microsoft.com/office/drawing/2014/main" id="{DC92DFAF-D07B-1F42-A3C6-AB8FE06A85A8}"/>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AD0E1690-05A4-46CB-B650-7C2B6F164ABA}"/>
              </a:ext>
            </a:extLst>
          </p:cNvPr>
          <p:cNvGrpSpPr/>
          <p:nvPr userDrawn="1"/>
        </p:nvGrpSpPr>
        <p:grpSpPr>
          <a:xfrm>
            <a:off x="1989438" y="3196513"/>
            <a:ext cx="2159387" cy="481847"/>
            <a:chOff x="2497995" y="2687207"/>
            <a:chExt cx="5762625" cy="1285875"/>
          </a:xfrm>
        </p:grpSpPr>
        <p:sp>
          <p:nvSpPr>
            <p:cNvPr id="14" name="Freeform: Shape 13">
              <a:extLst>
                <a:ext uri="{FF2B5EF4-FFF2-40B4-BE49-F238E27FC236}">
                  <a16:creationId xmlns:a16="http://schemas.microsoft.com/office/drawing/2014/main" id="{3D313E15-7621-4E27-BBEA-86F4636DC78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621446A-9105-4482-BDA2-51301DFDB8E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840CF4-3BE7-47FF-BBC6-2D4CF97E325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381973A-3535-4DD7-826C-31EA1CCBD2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6CB66E5-BCBC-4234-BF8B-081592231E4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7053348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imated">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7750A1-E8E1-1D41-ACF2-9B359F4A25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Google Shape;64;p14">
            <a:extLst>
              <a:ext uri="{FF2B5EF4-FFF2-40B4-BE49-F238E27FC236}">
                <a16:creationId xmlns:a16="http://schemas.microsoft.com/office/drawing/2014/main" id="{4210C7F0-90E8-3143-B46A-5A9715BAFEDE}"/>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spTree>
    <p:extLst>
      <p:ext uri="{BB962C8B-B14F-4D97-AF65-F5344CB8AC3E}">
        <p14:creationId xmlns:p14="http://schemas.microsoft.com/office/powerpoint/2010/main" val="145000208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tx2"/>
        </a:solidFill>
        <a:effectLst/>
      </p:bgPr>
    </p:bg>
    <p:spTree>
      <p:nvGrpSpPr>
        <p:cNvPr id="1" name=""/>
        <p:cNvGrpSpPr/>
        <p:nvPr/>
      </p:nvGrpSpPr>
      <p:grpSpPr>
        <a:xfrm>
          <a:off x="0" y="0"/>
          <a:ext cx="0" cy="0"/>
          <a:chOff x="0" y="0"/>
          <a:chExt cx="0" cy="0"/>
        </a:xfrm>
      </p:grpSpPr>
      <p:sp>
        <p:nvSpPr>
          <p:cNvPr id="4" name="Google Shape;64;p14">
            <a:extLst>
              <a:ext uri="{FF2B5EF4-FFF2-40B4-BE49-F238E27FC236}">
                <a16:creationId xmlns:a16="http://schemas.microsoft.com/office/drawing/2014/main" id="{F7AEBA34-CB66-F347-A197-808C0226589C}"/>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5" name="Group 14">
            <a:extLst>
              <a:ext uri="{FF2B5EF4-FFF2-40B4-BE49-F238E27FC236}">
                <a16:creationId xmlns:a16="http://schemas.microsoft.com/office/drawing/2014/main" id="{E340942D-CC4B-46CA-AFA6-E4BDA1A3474E}"/>
              </a:ext>
            </a:extLst>
          </p:cNvPr>
          <p:cNvGrpSpPr/>
          <p:nvPr userDrawn="1"/>
        </p:nvGrpSpPr>
        <p:grpSpPr>
          <a:xfrm>
            <a:off x="4209020" y="2340918"/>
            <a:ext cx="3883428" cy="2134887"/>
            <a:chOff x="4578413" y="2894128"/>
            <a:chExt cx="2144477" cy="1266886"/>
          </a:xfrm>
          <a:solidFill>
            <a:schemeClr val="tx1"/>
          </a:solidFill>
        </p:grpSpPr>
        <p:sp>
          <p:nvSpPr>
            <p:cNvPr id="16" name="Freeform: Shape 15">
              <a:extLst>
                <a:ext uri="{FF2B5EF4-FFF2-40B4-BE49-F238E27FC236}">
                  <a16:creationId xmlns:a16="http://schemas.microsoft.com/office/drawing/2014/main" id="{602FFBDB-02EA-4211-9787-AA1E6A4062B8}"/>
                </a:ext>
              </a:extLst>
            </p:cNvPr>
            <p:cNvSpPr/>
            <p:nvPr userDrawn="1"/>
          </p:nvSpPr>
          <p:spPr>
            <a:xfrm>
              <a:off x="4578413" y="2894189"/>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5F9EF53-6CE3-4334-81D3-3EF28B84F543}"/>
                </a:ext>
              </a:extLst>
            </p:cNvPr>
            <p:cNvSpPr/>
            <p:nvPr userDrawn="1"/>
          </p:nvSpPr>
          <p:spPr>
            <a:xfrm>
              <a:off x="5694190" y="2894128"/>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440031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9282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670" r:id="rId3"/>
    <p:sldLayoutId id="2147483669" r:id="rId4"/>
    <p:sldLayoutId id="2147483671" r:id="rId5"/>
    <p:sldLayoutId id="2147483727" r:id="rId6"/>
    <p:sldLayoutId id="2147483691" r:id="rId7"/>
    <p:sldLayoutId id="2147483692" r:id="rId8"/>
    <p:sldLayoutId id="2147483693" r:id="rId9"/>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userDrawn="1">
          <p15:clr>
            <a:srgbClr val="F26B43"/>
          </p15:clr>
        </p15:guide>
        <p15:guide id="3" pos="731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0" userDrawn="1">
          <p15:clr>
            <a:srgbClr val="F26B43"/>
          </p15:clr>
        </p15:guide>
        <p15:guide id="8" pos="3772" userDrawn="1">
          <p15:clr>
            <a:srgbClr val="F26B43"/>
          </p15:clr>
        </p15:guide>
        <p15:guide id="9" pos="3897" userDrawn="1">
          <p15:clr>
            <a:srgbClr val="F26B43"/>
          </p15:clr>
        </p15:guide>
        <p15:guide id="10" pos="4951" userDrawn="1">
          <p15:clr>
            <a:srgbClr val="F26B43"/>
          </p15:clr>
        </p15:guide>
        <p15:guide id="11" pos="5074" userDrawn="1">
          <p15:clr>
            <a:srgbClr val="F26B43"/>
          </p15:clr>
        </p15:guide>
        <p15:guide id="12" pos="6131" userDrawn="1">
          <p15:clr>
            <a:srgbClr val="F26B43"/>
          </p15:clr>
        </p15:guide>
        <p15:guide id="13" pos="6244" userDrawn="1">
          <p15:clr>
            <a:srgbClr val="F26B43"/>
          </p15:clr>
        </p15:guide>
        <p15:guide id="14" pos="1980" userDrawn="1">
          <p15:clr>
            <a:srgbClr val="F26B43"/>
          </p15:clr>
        </p15:guide>
        <p15:guide id="15" pos="2139" userDrawn="1">
          <p15:clr>
            <a:srgbClr val="F26B43"/>
          </p15:clr>
        </p15:guide>
        <p15:guide id="16" pos="5541" userDrawn="1">
          <p15:clr>
            <a:srgbClr val="F26B43"/>
          </p15:clr>
        </p15:guide>
        <p15:guide id="17" pos="5677" userDrawn="1">
          <p15:clr>
            <a:srgbClr val="F26B43"/>
          </p15:clr>
        </p15:guide>
        <p15:guide id="18" orient="horz" pos="3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048565"/>
      </p:ext>
    </p:extLst>
  </p:cSld>
  <p:clrMap bg1="lt1" tx1="dk1" bg2="lt2" tx2="dk2" accent1="accent1" accent2="accent2" accent3="accent3" accent4="accent4" accent5="accent5" accent6="accent6" hlink="hlink" folHlink="folHlink"/>
  <p:sldLayoutIdLst>
    <p:sldLayoutId id="2147483663" r:id="rId1"/>
    <p:sldLayoutId id="2147483651" r:id="rId2"/>
    <p:sldLayoutId id="2147483689" r:id="rId3"/>
    <p:sldLayoutId id="2147483652" r:id="rId4"/>
    <p:sldLayoutId id="2147483653" r:id="rId5"/>
    <p:sldLayoutId id="2147483688" r:id="rId6"/>
    <p:sldLayoutId id="2147483765" r:id="rId7"/>
    <p:sldLayoutId id="2147483767" r:id="rId8"/>
    <p:sldLayoutId id="2147483690" r:id="rId9"/>
    <p:sldLayoutId id="2147483700" r:id="rId10"/>
    <p:sldLayoutId id="2147483701" r:id="rId11"/>
    <p:sldLayoutId id="2147483702" r:id="rId12"/>
    <p:sldLayoutId id="2147483766" r:id="rId1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72" userDrawn="1">
          <p15:clr>
            <a:srgbClr val="F26B43"/>
          </p15:clr>
        </p15:guide>
        <p15:guide id="2" pos="3897" userDrawn="1">
          <p15:clr>
            <a:srgbClr val="F26B43"/>
          </p15:clr>
        </p15:guide>
        <p15:guide id="3" pos="37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5" userDrawn="1">
          <p15:clr>
            <a:srgbClr val="F26B43"/>
          </p15:clr>
        </p15:guide>
        <p15:guide id="8" pos="4951" userDrawn="1">
          <p15:clr>
            <a:srgbClr val="F26B43"/>
          </p15:clr>
        </p15:guide>
        <p15:guide id="9" pos="5079" userDrawn="1">
          <p15:clr>
            <a:srgbClr val="F26B43"/>
          </p15:clr>
        </p15:guide>
        <p15:guide id="10" pos="6131" userDrawn="1">
          <p15:clr>
            <a:srgbClr val="F26B43"/>
          </p15:clr>
        </p15:guide>
        <p15:guide id="11" pos="6256" userDrawn="1">
          <p15:clr>
            <a:srgbClr val="F26B43"/>
          </p15:clr>
        </p15:guide>
        <p15:guide id="12" pos="5535" userDrawn="1">
          <p15:clr>
            <a:srgbClr val="F26B43"/>
          </p15:clr>
        </p15:guide>
        <p15:guide id="13" pos="5690" userDrawn="1">
          <p15:clr>
            <a:srgbClr val="F26B43"/>
          </p15:clr>
        </p15:guide>
        <p15:guide id="14" pos="1983" userDrawn="1">
          <p15:clr>
            <a:srgbClr val="F26B43"/>
          </p15:clr>
        </p15:guide>
        <p15:guide id="15" pos="2144" userDrawn="1">
          <p15:clr>
            <a:srgbClr val="F26B43"/>
          </p15:clr>
        </p15:guide>
        <p15:guide id="16" orient="horz" pos="350" userDrawn="1">
          <p15:clr>
            <a:srgbClr val="F26B43"/>
          </p15:clr>
        </p15:guide>
        <p15:guide id="17" pos="729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A343E2A0-B14C-4B41-8660-A49E8749E8EB}"/>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160757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7" r:id="rId4"/>
    <p:sldLayoutId id="2147483759" r:id="rId5"/>
    <p:sldLayoutId id="2147483760" r:id="rId6"/>
    <p:sldLayoutId id="2147483761" r:id="rId7"/>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orient="horz" pos="223" userDrawn="1">
          <p15:clr>
            <a:srgbClr val="F26B43"/>
          </p15:clr>
        </p15:guide>
        <p15:guide id="3" pos="1418" userDrawn="1">
          <p15:clr>
            <a:srgbClr val="F26B43"/>
          </p15:clr>
        </p15:guide>
        <p15:guide id="4" pos="1548" userDrawn="1">
          <p15:clr>
            <a:srgbClr val="F26B43"/>
          </p15:clr>
        </p15:guide>
        <p15:guide id="5" pos="2601" userDrawn="1">
          <p15:clr>
            <a:srgbClr val="F26B43"/>
          </p15:clr>
        </p15:guide>
        <p15:guide id="6" pos="2725" userDrawn="1">
          <p15:clr>
            <a:srgbClr val="F26B43"/>
          </p15:clr>
        </p15:guide>
        <p15:guide id="7" pos="3784" userDrawn="1">
          <p15:clr>
            <a:srgbClr val="F26B43"/>
          </p15:clr>
        </p15:guide>
        <p15:guide id="8" pos="3902" userDrawn="1">
          <p15:clr>
            <a:srgbClr val="F26B43"/>
          </p15:clr>
        </p15:guide>
        <p15:guide id="9" pos="5079" userDrawn="1">
          <p15:clr>
            <a:srgbClr val="F26B43"/>
          </p15:clr>
        </p15:guide>
        <p15:guide id="10" pos="6255" userDrawn="1">
          <p15:clr>
            <a:srgbClr val="F26B43"/>
          </p15:clr>
        </p15:guide>
        <p15:guide id="11" pos="4951" userDrawn="1">
          <p15:clr>
            <a:srgbClr val="F26B43"/>
          </p15:clr>
        </p15:guide>
        <p15:guide id="12" pos="6132" userDrawn="1">
          <p15:clr>
            <a:srgbClr val="F26B43"/>
          </p15:clr>
        </p15:guide>
        <p15:guide id="13" pos="7308" userDrawn="1">
          <p15:clr>
            <a:srgbClr val="F26B43"/>
          </p15:clr>
        </p15:guide>
        <p15:guide id="14" pos="5692" userDrawn="1">
          <p15:clr>
            <a:srgbClr val="F26B43"/>
          </p15:clr>
        </p15:guide>
        <p15:guide id="15" pos="5537" userDrawn="1">
          <p15:clr>
            <a:srgbClr val="F26B43"/>
          </p15:clr>
        </p15:guide>
        <p15:guide id="16" pos="1988" userDrawn="1">
          <p15:clr>
            <a:srgbClr val="F26B43"/>
          </p15:clr>
        </p15:guide>
        <p15:guide id="17" pos="214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2AC8A-8C5F-2143-BA14-F44BEC19E82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flipV="1">
            <a:off x="591399" y="7131088"/>
            <a:ext cx="11009202" cy="100535"/>
          </a:xfrm>
          <a:prstGeom prst="rect">
            <a:avLst/>
          </a:prstGeom>
        </p:spPr>
      </p:pic>
      <p:pic>
        <p:nvPicPr>
          <p:cNvPr id="5" name="Picture 4">
            <a:extLst>
              <a:ext uri="{FF2B5EF4-FFF2-40B4-BE49-F238E27FC236}">
                <a16:creationId xmlns:a16="http://schemas.microsoft.com/office/drawing/2014/main" id="{8DB5E4D5-1564-024E-8A7D-806AAB30F8D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96900" y="7481127"/>
            <a:ext cx="10998200" cy="99116"/>
          </a:xfrm>
          <a:prstGeom prst="rect">
            <a:avLst/>
          </a:prstGeom>
        </p:spPr>
      </p:pic>
    </p:spTree>
    <p:extLst>
      <p:ext uri="{BB962C8B-B14F-4D97-AF65-F5344CB8AC3E}">
        <p14:creationId xmlns:p14="http://schemas.microsoft.com/office/powerpoint/2010/main" val="3485197141"/>
      </p:ext>
    </p:extLst>
  </p:cSld>
  <p:clrMap bg1="lt1" tx1="dk1" bg2="lt2" tx2="dk2" accent1="accent1" accent2="accent2" accent3="accent3" accent4="accent4" accent5="accent5" accent6="accent6" hlink="hlink" folHlink="folHlink"/>
  <p:sldLayoutIdLst>
    <p:sldLayoutId id="2147483709" r:id="rId1"/>
    <p:sldLayoutId id="2147483724" r:id="rId2"/>
    <p:sldLayoutId id="2147483705" r:id="rId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p:txBody>
          <a:bodyPr/>
          <a:lstStyle/>
          <a:p>
            <a:r>
              <a:rPr lang="en-US" dirty="0"/>
              <a:t>AWS Application Deployment</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p:txBody>
          <a:bodyPr/>
          <a:lstStyle/>
          <a:p>
            <a:r>
              <a:rPr lang="en-US" dirty="0"/>
              <a:t>Application Deployment using AWS Amplify</a:t>
            </a:r>
          </a:p>
          <a:p>
            <a:r>
              <a:rPr lang="en-US" dirty="0"/>
              <a:t>Razin Bin Zaidun</a:t>
            </a:r>
          </a:p>
        </p:txBody>
      </p:sp>
    </p:spTree>
    <p:extLst>
      <p:ext uri="{BB962C8B-B14F-4D97-AF65-F5344CB8AC3E}">
        <p14:creationId xmlns:p14="http://schemas.microsoft.com/office/powerpoint/2010/main" val="8749064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400" y="1164910"/>
            <a:ext cx="5398584" cy="783153"/>
          </a:xfrm>
        </p:spPr>
        <p:txBody>
          <a:bodyPr/>
          <a:lstStyle/>
          <a:p>
            <a:r>
              <a:rPr lang="en-US" dirty="0"/>
              <a:t>Agenda</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1"/>
          </p:nvPr>
        </p:nvSpPr>
        <p:spPr>
          <a:xfrm>
            <a:off x="6210804" y="1165226"/>
            <a:ext cx="5398584" cy="4731992"/>
          </a:xfrm>
        </p:spPr>
        <p:txBody>
          <a:bodyPr/>
          <a:lstStyle/>
          <a:p>
            <a:r>
              <a:rPr lang="en-SG" dirty="0"/>
              <a:t>Introduction to AWS Amplify</a:t>
            </a:r>
          </a:p>
          <a:p>
            <a:r>
              <a:rPr lang="en-SG" dirty="0"/>
              <a:t>How Amplify Works</a:t>
            </a:r>
          </a:p>
          <a:p>
            <a:r>
              <a:rPr lang="en-SG" dirty="0"/>
              <a:t>Why Use Amplify</a:t>
            </a:r>
          </a:p>
          <a:p>
            <a:r>
              <a:rPr lang="en-SG" dirty="0"/>
              <a:t>Cost Optimization</a:t>
            </a:r>
          </a:p>
          <a:p>
            <a:r>
              <a:rPr lang="en-SG" dirty="0"/>
              <a:t>Summary &amp; Recommendation</a:t>
            </a:r>
          </a:p>
        </p:txBody>
      </p:sp>
    </p:spTree>
    <p:extLst>
      <p:ext uri="{BB962C8B-B14F-4D97-AF65-F5344CB8AC3E}">
        <p14:creationId xmlns:p14="http://schemas.microsoft.com/office/powerpoint/2010/main" val="797434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F7BC17-C097-EF49-903E-0A1FFF9051AD}"/>
              </a:ext>
            </a:extLst>
          </p:cNvPr>
          <p:cNvSpPr>
            <a:spLocks noGrp="1"/>
          </p:cNvSpPr>
          <p:nvPr>
            <p:ph type="body" sz="quarter" idx="10"/>
          </p:nvPr>
        </p:nvSpPr>
        <p:spPr/>
        <p:txBody>
          <a:bodyPr/>
          <a:lstStyle/>
          <a:p>
            <a:r>
              <a:rPr lang="en-GB" dirty="0"/>
              <a:t>Introduction</a:t>
            </a:r>
          </a:p>
          <a:p>
            <a:endParaRPr lang="en-US" dirty="0"/>
          </a:p>
          <a:p>
            <a:endParaRPr lang="en-US" dirty="0"/>
          </a:p>
        </p:txBody>
      </p:sp>
    </p:spTree>
    <p:extLst>
      <p:ext uri="{BB962C8B-B14F-4D97-AF65-F5344CB8AC3E}">
        <p14:creationId xmlns:p14="http://schemas.microsoft.com/office/powerpoint/2010/main" val="33751077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399" y="572679"/>
            <a:ext cx="6594591" cy="792984"/>
          </a:xfrm>
        </p:spPr>
        <p:txBody>
          <a:bodyPr/>
          <a:lstStyle/>
          <a:p>
            <a:r>
              <a:rPr lang="en-US" dirty="0"/>
              <a:t>What is AWS Amplify?</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458686"/>
            <a:ext cx="7068185" cy="4502728"/>
          </a:xfrm>
        </p:spPr>
        <p:txBody>
          <a:bodyPr/>
          <a:lstStyle/>
          <a:p>
            <a:pPr fontAlgn="base"/>
            <a:r>
              <a:rPr lang="en-US" sz="1800" b="1" dirty="0"/>
              <a:t>Unified Development Platform</a:t>
            </a:r>
            <a:r>
              <a:rPr lang="en-US" sz="1800" dirty="0"/>
              <a:t>​</a:t>
            </a:r>
          </a:p>
          <a:p>
            <a:pPr fontAlgn="base"/>
            <a:r>
              <a:rPr lang="en-US" sz="1800" dirty="0">
                <a:solidFill>
                  <a:schemeClr val="bg2">
                    <a:lumMod val="25000"/>
                    <a:lumOff val="75000"/>
                  </a:schemeClr>
                </a:solidFill>
              </a:rPr>
              <a:t>AWS Amplify offers an integrated workflow for full-stack development including hosting, authentication, and data management.​</a:t>
            </a:r>
          </a:p>
          <a:p>
            <a:pPr fontAlgn="base"/>
            <a:r>
              <a:rPr lang="en-US" sz="1800" b="1" dirty="0"/>
              <a:t>Support for Popular Frameworks</a:t>
            </a:r>
            <a:r>
              <a:rPr lang="en-US" sz="1800" dirty="0"/>
              <a:t>​</a:t>
            </a:r>
          </a:p>
          <a:p>
            <a:pPr fontAlgn="base"/>
            <a:r>
              <a:rPr lang="en-US" sz="1800" dirty="0">
                <a:solidFill>
                  <a:schemeClr val="bg2">
                    <a:lumMod val="25000"/>
                    <a:lumOff val="75000"/>
                  </a:schemeClr>
                </a:solidFill>
              </a:rPr>
              <a:t>Amplify supports major frontend frameworks like React, Vue, and Angular, plus mobile platforms for versatile app development.​</a:t>
            </a:r>
          </a:p>
          <a:p>
            <a:pPr fontAlgn="base"/>
            <a:r>
              <a:rPr lang="en-US" sz="1800" b="1" dirty="0"/>
              <a:t>Simplified Backend Management</a:t>
            </a:r>
            <a:r>
              <a:rPr lang="en-US" sz="1800" dirty="0"/>
              <a:t>​</a:t>
            </a:r>
          </a:p>
          <a:p>
            <a:pPr fontAlgn="base"/>
            <a:r>
              <a:rPr lang="en-US" sz="1800" dirty="0">
                <a:solidFill>
                  <a:schemeClr val="bg2">
                    <a:lumMod val="25000"/>
                    <a:lumOff val="75000"/>
                  </a:schemeClr>
                </a:solidFill>
              </a:rPr>
              <a:t>It streamlines backend configuration and deployment, allowing developers to focus on building app features effectively.​</a:t>
            </a:r>
          </a:p>
          <a:p>
            <a:pPr fontAlgn="base"/>
            <a:r>
              <a:rPr lang="en-US" sz="1800" b="1" dirty="0"/>
              <a:t>User-Friendly and Accessible</a:t>
            </a:r>
            <a:r>
              <a:rPr lang="en-US" sz="1800" dirty="0"/>
              <a:t>​</a:t>
            </a:r>
          </a:p>
          <a:p>
            <a:pPr fontAlgn="base"/>
            <a:r>
              <a:rPr lang="en-US" sz="1800" dirty="0">
                <a:solidFill>
                  <a:schemeClr val="bg2">
                    <a:lumMod val="25000"/>
                    <a:lumOff val="75000"/>
                  </a:schemeClr>
                </a:solidFill>
              </a:rPr>
              <a:t>Amplify features an intuitive interface and detailed documentation accessible to developers of all skill levels.​</a:t>
            </a:r>
          </a:p>
        </p:txBody>
      </p:sp>
      <p:pic>
        <p:nvPicPr>
          <p:cNvPr id="6" name="Picture Placeholder 5" descr="A logo of a company&#10;&#10;AI-generated content may be incorrect.">
            <a:extLst>
              <a:ext uri="{FF2B5EF4-FFF2-40B4-BE49-F238E27FC236}">
                <a16:creationId xmlns:a16="http://schemas.microsoft.com/office/drawing/2014/main" id="{61515942-4924-D981-B29F-76090DDE5BFC}"/>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369" t="-1637" r="-1" b="-2741"/>
          <a:stretch>
            <a:fillRect/>
          </a:stretch>
        </p:blipFill>
        <p:spPr>
          <a:xfrm>
            <a:off x="7940843" y="1864896"/>
            <a:ext cx="4251158" cy="3729788"/>
          </a:xfrm>
        </p:spPr>
      </p:pic>
    </p:spTree>
    <p:extLst>
      <p:ext uri="{BB962C8B-B14F-4D97-AF65-F5344CB8AC3E}">
        <p14:creationId xmlns:p14="http://schemas.microsoft.com/office/powerpoint/2010/main" val="3980265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A6FF-7F4A-0B80-CF9F-FF1FD591E375}"/>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1A039051-8A85-ADCF-1CA6-9C129CB3875A}"/>
              </a:ext>
            </a:extLst>
          </p:cNvPr>
          <p:cNvSpPr>
            <a:spLocks noGrp="1"/>
          </p:cNvSpPr>
          <p:nvPr>
            <p:ph type="body" sz="quarter" idx="10"/>
          </p:nvPr>
        </p:nvSpPr>
        <p:spPr>
          <a:xfrm>
            <a:off x="591399" y="572679"/>
            <a:ext cx="6594591" cy="792984"/>
          </a:xfrm>
        </p:spPr>
        <p:txBody>
          <a:bodyPr/>
          <a:lstStyle/>
          <a:p>
            <a:r>
              <a:rPr lang="en-US" dirty="0"/>
              <a:t>How Amplify Works</a:t>
            </a:r>
          </a:p>
        </p:txBody>
      </p:sp>
      <p:sp>
        <p:nvSpPr>
          <p:cNvPr id="21" name="Text Placeholder 20">
            <a:extLst>
              <a:ext uri="{FF2B5EF4-FFF2-40B4-BE49-F238E27FC236}">
                <a16:creationId xmlns:a16="http://schemas.microsoft.com/office/drawing/2014/main" id="{5A785D8F-B173-30B2-9A07-E9BFE1ACD099}"/>
              </a:ext>
            </a:extLst>
          </p:cNvPr>
          <p:cNvSpPr>
            <a:spLocks noGrp="1"/>
          </p:cNvSpPr>
          <p:nvPr>
            <p:ph type="body" sz="quarter" idx="12"/>
          </p:nvPr>
        </p:nvSpPr>
        <p:spPr>
          <a:xfrm>
            <a:off x="591399" y="1458686"/>
            <a:ext cx="7068185" cy="4229595"/>
          </a:xfrm>
        </p:spPr>
        <p:txBody>
          <a:bodyPr/>
          <a:lstStyle/>
          <a:p>
            <a:pPr fontAlgn="base"/>
            <a:r>
              <a:rPr lang="en-US" sz="1800" b="1" dirty="0"/>
              <a:t>Git-Based CI/CD Workflow</a:t>
            </a:r>
            <a:r>
              <a:rPr lang="en-US" sz="1800" dirty="0"/>
              <a:t>​</a:t>
            </a:r>
          </a:p>
          <a:p>
            <a:pPr fontAlgn="base"/>
            <a:r>
              <a:rPr lang="en-US" sz="1800" dirty="0">
                <a:solidFill>
                  <a:schemeClr val="bg2">
                    <a:lumMod val="25000"/>
                    <a:lumOff val="75000"/>
                  </a:schemeClr>
                </a:solidFill>
              </a:rPr>
              <a:t>Amplify deploys updates automatically on code commit, ensuring continuous integration and delivery without manual steps.​</a:t>
            </a:r>
          </a:p>
          <a:p>
            <a:pPr fontAlgn="base"/>
            <a:r>
              <a:rPr lang="en-US" sz="1800" b="1" dirty="0"/>
              <a:t>Unified Development Framework</a:t>
            </a:r>
            <a:r>
              <a:rPr lang="en-US" sz="1800" dirty="0"/>
              <a:t>​</a:t>
            </a:r>
          </a:p>
          <a:p>
            <a:pPr fontAlgn="base"/>
            <a:r>
              <a:rPr lang="en-US" sz="1800" dirty="0">
                <a:solidFill>
                  <a:schemeClr val="bg2">
                    <a:lumMod val="25000"/>
                    <a:lumOff val="75000"/>
                  </a:schemeClr>
                </a:solidFill>
              </a:rPr>
              <a:t>Developers define backend resources using TypeScript in structured files, streamlining backend configuration.​</a:t>
            </a:r>
          </a:p>
          <a:p>
            <a:pPr fontAlgn="base"/>
            <a:r>
              <a:rPr lang="en-US" sz="1800" b="1" dirty="0"/>
              <a:t>Cloud Sandbox Environment</a:t>
            </a:r>
            <a:r>
              <a:rPr lang="en-US" sz="1800" dirty="0"/>
              <a:t>​</a:t>
            </a:r>
          </a:p>
          <a:p>
            <a:pPr fontAlgn="base"/>
            <a:r>
              <a:rPr lang="en-US" sz="1800" dirty="0">
                <a:solidFill>
                  <a:schemeClr val="bg2">
                    <a:lumMod val="25000"/>
                    <a:lumOff val="75000"/>
                  </a:schemeClr>
                </a:solidFill>
              </a:rPr>
              <a:t>Isolated cloud sandboxes allow developers to independently test and iterate applications rapidly.​</a:t>
            </a:r>
          </a:p>
          <a:p>
            <a:pPr fontAlgn="base"/>
            <a:r>
              <a:rPr lang="en-US" sz="1800" b="1" dirty="0"/>
              <a:t>Backend Configuration Integration</a:t>
            </a:r>
            <a:r>
              <a:rPr lang="en-US" sz="1800" dirty="0"/>
              <a:t>​</a:t>
            </a:r>
          </a:p>
          <a:p>
            <a:pPr fontAlgn="base"/>
            <a:r>
              <a:rPr lang="en-US" sz="1800" dirty="0">
                <a:solidFill>
                  <a:schemeClr val="bg2">
                    <a:lumMod val="25000"/>
                    <a:lumOff val="75000"/>
                  </a:schemeClr>
                </a:solidFill>
              </a:rPr>
              <a:t>Amplify outputs a JSON file encapsulating backend setups for seamless frontend-backend integration.​</a:t>
            </a:r>
          </a:p>
        </p:txBody>
      </p:sp>
      <p:pic>
        <p:nvPicPr>
          <p:cNvPr id="5" name="Picture Placeholder 4" descr="A diagram of a device&#10;&#10;AI-generated content may be incorrect.">
            <a:extLst>
              <a:ext uri="{FF2B5EF4-FFF2-40B4-BE49-F238E27FC236}">
                <a16:creationId xmlns:a16="http://schemas.microsoft.com/office/drawing/2014/main" id="{B2C40E48-CE09-0A11-331D-12D78D7BDCBB}"/>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49" t="-51660" b="-58672"/>
          <a:stretch>
            <a:fillRect/>
          </a:stretch>
        </p:blipFill>
        <p:spPr>
          <a:xfrm>
            <a:off x="7971183" y="0"/>
            <a:ext cx="4220817" cy="6857999"/>
          </a:xfrm>
        </p:spPr>
      </p:pic>
    </p:spTree>
    <p:extLst>
      <p:ext uri="{BB962C8B-B14F-4D97-AF65-F5344CB8AC3E}">
        <p14:creationId xmlns:p14="http://schemas.microsoft.com/office/powerpoint/2010/main" val="8526430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9"/>
            <a:ext cx="6594591" cy="864235"/>
          </a:xfrm>
        </p:spPr>
        <p:txBody>
          <a:bodyPr/>
          <a:lstStyle/>
          <a:p>
            <a:r>
              <a:rPr lang="en-US" dirty="0"/>
              <a:t>Why Use Amplify</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0" y="1306287"/>
            <a:ext cx="6937555" cy="4797630"/>
          </a:xfrm>
        </p:spPr>
        <p:txBody>
          <a:bodyPr/>
          <a:lstStyle/>
          <a:p>
            <a:pPr fontAlgn="base"/>
            <a:r>
              <a:rPr lang="en-US" sz="1800" b="1" dirty="0"/>
              <a:t>Beginner-Friendly Setup</a:t>
            </a:r>
            <a:r>
              <a:rPr lang="en-US" sz="1800" dirty="0"/>
              <a:t>​</a:t>
            </a:r>
          </a:p>
          <a:p>
            <a:pPr fontAlgn="base"/>
            <a:r>
              <a:rPr lang="en-US" sz="1800" dirty="0">
                <a:solidFill>
                  <a:schemeClr val="bg2">
                    <a:lumMod val="25000"/>
                    <a:lumOff val="75000"/>
                  </a:schemeClr>
                </a:solidFill>
              </a:rPr>
              <a:t>Amplify offers easy setup with simple CLI and prebuilt UI components to streamline development.​</a:t>
            </a:r>
          </a:p>
          <a:p>
            <a:pPr fontAlgn="base"/>
            <a:r>
              <a:rPr lang="en-US" sz="1800" b="1" dirty="0"/>
              <a:t>Rapid Prototyping</a:t>
            </a:r>
            <a:r>
              <a:rPr lang="en-US" sz="1800" dirty="0"/>
              <a:t>​</a:t>
            </a:r>
          </a:p>
          <a:p>
            <a:pPr fontAlgn="base"/>
            <a:r>
              <a:rPr lang="en-US" sz="1800" dirty="0">
                <a:solidFill>
                  <a:schemeClr val="bg2">
                    <a:lumMod val="25000"/>
                    <a:lumOff val="75000"/>
                  </a:schemeClr>
                </a:solidFill>
              </a:rPr>
              <a:t>Sandbox environments enable fast iteration and testing, perfect for agile workflows.​</a:t>
            </a:r>
          </a:p>
          <a:p>
            <a:pPr fontAlgn="base"/>
            <a:r>
              <a:rPr lang="en-US" sz="1800" b="1" dirty="0"/>
              <a:t>Integrated Backend Services</a:t>
            </a:r>
            <a:r>
              <a:rPr lang="en-US" sz="1800" dirty="0"/>
              <a:t>​</a:t>
            </a:r>
          </a:p>
          <a:p>
            <a:pPr fontAlgn="base"/>
            <a:r>
              <a:rPr lang="en-US" sz="1800" dirty="0">
                <a:solidFill>
                  <a:schemeClr val="bg2">
                    <a:lumMod val="25000"/>
                    <a:lumOff val="75000"/>
                  </a:schemeClr>
                </a:solidFill>
              </a:rPr>
              <a:t>Declarative backend definitions let developers configure authentication, data models, and storage easily.​</a:t>
            </a:r>
          </a:p>
          <a:p>
            <a:pPr fontAlgn="base"/>
            <a:r>
              <a:rPr lang="en-US" sz="1800" b="1" dirty="0"/>
              <a:t>Global Deployment</a:t>
            </a:r>
            <a:r>
              <a:rPr lang="en-US" sz="1800" dirty="0"/>
              <a:t>​</a:t>
            </a:r>
          </a:p>
          <a:p>
            <a:pPr fontAlgn="base"/>
            <a:r>
              <a:rPr lang="en-US" sz="1800" dirty="0">
                <a:solidFill>
                  <a:schemeClr val="bg2">
                    <a:lumMod val="25000"/>
                    <a:lumOff val="75000"/>
                  </a:schemeClr>
                </a:solidFill>
              </a:rPr>
              <a:t>Automatic deployment to global CDN ensures scalable and maintainable applications with minimal overhead.​</a:t>
            </a:r>
          </a:p>
        </p:txBody>
      </p:sp>
      <p:pic>
        <p:nvPicPr>
          <p:cNvPr id="7" name="Picture Placeholder 6" descr="A diagram of a company&#10;&#10;AI-generated content may be incorrect.">
            <a:extLst>
              <a:ext uri="{FF2B5EF4-FFF2-40B4-BE49-F238E27FC236}">
                <a16:creationId xmlns:a16="http://schemas.microsoft.com/office/drawing/2014/main" id="{FA70AAC3-08DD-A90D-A8AE-97A6B78ADE23}"/>
              </a:ext>
            </a:extLst>
          </p:cNvPr>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l="14" t="-64980" b="-56809"/>
          <a:stretch>
            <a:fillRect/>
          </a:stretch>
        </p:blipFill>
        <p:spPr>
          <a:xfrm>
            <a:off x="7970838" y="0"/>
            <a:ext cx="4221162" cy="6858000"/>
          </a:xfrm>
        </p:spPr>
      </p:pic>
    </p:spTree>
    <p:extLst>
      <p:ext uri="{BB962C8B-B14F-4D97-AF65-F5344CB8AC3E}">
        <p14:creationId xmlns:p14="http://schemas.microsoft.com/office/powerpoint/2010/main" val="16053969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400" y="572678"/>
            <a:ext cx="4696218" cy="1375865"/>
          </a:xfrm>
        </p:spPr>
        <p:txBody>
          <a:bodyPr/>
          <a:lstStyle/>
          <a:p>
            <a:r>
              <a:rPr lang="en-US" dirty="0"/>
              <a:t>Cost Optimization</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401" y="1948543"/>
            <a:ext cx="5168131" cy="3853543"/>
          </a:xfrm>
        </p:spPr>
        <p:txBody>
          <a:bodyPr/>
          <a:lstStyle/>
          <a:p>
            <a:pPr fontAlgn="base"/>
            <a:r>
              <a:rPr lang="en-US" sz="1800" b="1" dirty="0"/>
              <a:t>Cost Efficiency and Accessibility</a:t>
            </a:r>
            <a:r>
              <a:rPr lang="en-US" sz="1800" dirty="0"/>
              <a:t>​</a:t>
            </a:r>
          </a:p>
          <a:p>
            <a:pPr fontAlgn="base"/>
            <a:r>
              <a:rPr lang="en-US" sz="1800" dirty="0">
                <a:solidFill>
                  <a:schemeClr val="bg2">
                    <a:lumMod val="25000"/>
                    <a:lumOff val="75000"/>
                  </a:schemeClr>
                </a:solidFill>
              </a:rPr>
              <a:t>AWS Amplify is cost-efficient and accessible to developers with various budgets, supporting the AWS Free Tier.​</a:t>
            </a:r>
          </a:p>
          <a:p>
            <a:pPr fontAlgn="base"/>
            <a:r>
              <a:rPr lang="en-US" sz="1800" b="1" dirty="0"/>
              <a:t>Pay-As-You-Go Pricing</a:t>
            </a:r>
            <a:r>
              <a:rPr lang="en-US" sz="1800" dirty="0"/>
              <a:t>​</a:t>
            </a:r>
          </a:p>
          <a:p>
            <a:pPr fontAlgn="base"/>
            <a:r>
              <a:rPr lang="en-US" sz="1800" dirty="0">
                <a:solidFill>
                  <a:schemeClr val="bg2">
                    <a:lumMod val="25000"/>
                    <a:lumOff val="75000"/>
                  </a:schemeClr>
                </a:solidFill>
              </a:rPr>
              <a:t>Amplify users pay only for what they consume, eliminating upfront costs and fostering flexible budget management.​</a:t>
            </a:r>
          </a:p>
          <a:p>
            <a:pPr fontAlgn="base"/>
            <a:r>
              <a:rPr lang="en-US" sz="1800" b="1" dirty="0"/>
              <a:t>Simplified Infrastructure Management</a:t>
            </a:r>
            <a:r>
              <a:rPr lang="en-US" sz="1800" dirty="0"/>
              <a:t>​</a:t>
            </a:r>
          </a:p>
          <a:p>
            <a:pPr fontAlgn="base"/>
            <a:r>
              <a:rPr lang="en-US" sz="1800" dirty="0">
                <a:solidFill>
                  <a:schemeClr val="bg2">
                    <a:lumMod val="25000"/>
                    <a:lumOff val="75000"/>
                  </a:schemeClr>
                </a:solidFill>
              </a:rPr>
              <a:t>Amplify abstracts complex infrastructure setup, reducing operational overhead and minimizing unexpected expenses.​</a:t>
            </a:r>
          </a:p>
        </p:txBody>
      </p:sp>
      <p:pic>
        <p:nvPicPr>
          <p:cNvPr id="4" name="Picture Placeholder 3" descr="A blue bag with gold coins and a red arrow&#10;&#10;AI-generated content may be incorrect.">
            <a:extLst>
              <a:ext uri="{FF2B5EF4-FFF2-40B4-BE49-F238E27FC236}">
                <a16:creationId xmlns:a16="http://schemas.microsoft.com/office/drawing/2014/main" id="{2252BB76-29D0-8EA4-E79A-0530A188160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6910" b="-46910"/>
          <a:stretch>
            <a:fillRect/>
          </a:stretch>
        </p:blipFill>
        <p:spPr>
          <a:xfrm>
            <a:off x="6096000" y="0"/>
            <a:ext cx="6096000" cy="6858000"/>
          </a:xfrm>
        </p:spPr>
      </p:pic>
    </p:spTree>
    <p:extLst>
      <p:ext uri="{BB962C8B-B14F-4D97-AF65-F5344CB8AC3E}">
        <p14:creationId xmlns:p14="http://schemas.microsoft.com/office/powerpoint/2010/main" val="18460276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screenshot of a computer&#10;&#10;AI-generated content may be incorrect.">
            <a:extLst>
              <a:ext uri="{FF2B5EF4-FFF2-40B4-BE49-F238E27FC236}">
                <a16:creationId xmlns:a16="http://schemas.microsoft.com/office/drawing/2014/main" id="{26ACC626-DA19-E8E8-3ABA-A9E18AEEDE6F}"/>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2" b="-61313"/>
          <a:stretch>
            <a:fillRect/>
          </a:stretch>
        </p:blipFill>
        <p:spPr>
          <a:xfrm>
            <a:off x="6096000" y="0"/>
            <a:ext cx="6096000" cy="6858000"/>
          </a:xfrm>
        </p:spPr>
      </p:pic>
      <p:sp>
        <p:nvSpPr>
          <p:cNvPr id="3" name="Text Placeholder 2">
            <a:extLst>
              <a:ext uri="{FF2B5EF4-FFF2-40B4-BE49-F238E27FC236}">
                <a16:creationId xmlns:a16="http://schemas.microsoft.com/office/drawing/2014/main" id="{87CE79B6-028C-0FDD-A306-47D2270CEF59}"/>
              </a:ext>
            </a:extLst>
          </p:cNvPr>
          <p:cNvSpPr>
            <a:spLocks noGrp="1"/>
          </p:cNvSpPr>
          <p:nvPr>
            <p:ph type="body" sz="quarter" idx="10"/>
          </p:nvPr>
        </p:nvSpPr>
        <p:spPr/>
        <p:txBody>
          <a:bodyPr/>
          <a:lstStyle/>
          <a:p>
            <a:r>
              <a:rPr lang="en-US" dirty="0"/>
              <a:t>Amazon ECS Deployment with Docker</a:t>
            </a:r>
            <a:endParaRPr lang="en-SG" dirty="0"/>
          </a:p>
        </p:txBody>
      </p:sp>
      <p:sp>
        <p:nvSpPr>
          <p:cNvPr id="4" name="Text Placeholder 3">
            <a:extLst>
              <a:ext uri="{FF2B5EF4-FFF2-40B4-BE49-F238E27FC236}">
                <a16:creationId xmlns:a16="http://schemas.microsoft.com/office/drawing/2014/main" id="{4ED7BC17-85E7-8DCB-86C7-079E08827C12}"/>
              </a:ext>
            </a:extLst>
          </p:cNvPr>
          <p:cNvSpPr>
            <a:spLocks noGrp="1"/>
          </p:cNvSpPr>
          <p:nvPr>
            <p:ph type="body" sz="quarter" idx="12"/>
          </p:nvPr>
        </p:nvSpPr>
        <p:spPr>
          <a:xfrm>
            <a:off x="591401" y="2493819"/>
            <a:ext cx="4696217" cy="3194462"/>
          </a:xfrm>
        </p:spPr>
        <p:txBody>
          <a:bodyPr/>
          <a:lstStyle/>
          <a:p>
            <a:r>
              <a:rPr lang="en-US" dirty="0"/>
              <a:t>Containerized an existing project into Docker images for deployment into AWS Elastic Container Registry for image usage in AWS services.</a:t>
            </a:r>
            <a:endParaRPr lang="en-SG" dirty="0"/>
          </a:p>
        </p:txBody>
      </p:sp>
    </p:spTree>
    <p:extLst>
      <p:ext uri="{BB962C8B-B14F-4D97-AF65-F5344CB8AC3E}">
        <p14:creationId xmlns:p14="http://schemas.microsoft.com/office/powerpoint/2010/main" val="354067770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0CF-92E3-8A62-4372-ECB47DCD758B}"/>
            </a:ext>
          </a:extLst>
        </p:cNvPr>
        <p:cNvGrpSpPr/>
        <p:nvPr/>
      </p:nvGrpSpPr>
      <p:grpSpPr>
        <a:xfrm>
          <a:off x="0" y="0"/>
          <a:ext cx="0" cy="0"/>
          <a:chOff x="0" y="0"/>
          <a:chExt cx="0" cy="0"/>
        </a:xfrm>
      </p:grpSpPr>
      <p:pic>
        <p:nvPicPr>
          <p:cNvPr id="16" name="Picture 15" descr="A screenshot of a computer program&#10;&#10;AI-generated content may be incorrect.">
            <a:extLst>
              <a:ext uri="{FF2B5EF4-FFF2-40B4-BE49-F238E27FC236}">
                <a16:creationId xmlns:a16="http://schemas.microsoft.com/office/drawing/2014/main" id="{14815EA0-E72F-3070-94DC-12585652342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42450" y="480422"/>
            <a:ext cx="9500625" cy="5127164"/>
          </a:xfrm>
          <a:prstGeom prst="rect">
            <a:avLst/>
          </a:prstGeom>
        </p:spPr>
      </p:pic>
    </p:spTree>
    <p:extLst>
      <p:ext uri="{BB962C8B-B14F-4D97-AF65-F5344CB8AC3E}">
        <p14:creationId xmlns:p14="http://schemas.microsoft.com/office/powerpoint/2010/main" val="77695796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FC760-3D27-CABD-8184-33FFB186F25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C0749E-6D9D-32A2-9774-EDB26984BF32}"/>
              </a:ext>
            </a:extLst>
          </p:cNvPr>
          <p:cNvSpPr>
            <a:spLocks noGrp="1"/>
          </p:cNvSpPr>
          <p:nvPr>
            <p:ph type="body" sz="quarter" idx="10"/>
          </p:nvPr>
        </p:nvSpPr>
        <p:spPr/>
        <p:txBody>
          <a:bodyPr/>
          <a:lstStyle/>
          <a:p>
            <a:r>
              <a:rPr lang="en-US" dirty="0"/>
              <a:t>Amazon ECS Deployment with Docker</a:t>
            </a:r>
            <a:endParaRPr lang="en-SG" dirty="0"/>
          </a:p>
        </p:txBody>
      </p:sp>
      <p:sp>
        <p:nvSpPr>
          <p:cNvPr id="4" name="Text Placeholder 3">
            <a:extLst>
              <a:ext uri="{FF2B5EF4-FFF2-40B4-BE49-F238E27FC236}">
                <a16:creationId xmlns:a16="http://schemas.microsoft.com/office/drawing/2014/main" id="{6E0CAD56-FCE1-483F-F668-AE88955E93B9}"/>
              </a:ext>
            </a:extLst>
          </p:cNvPr>
          <p:cNvSpPr>
            <a:spLocks noGrp="1"/>
          </p:cNvSpPr>
          <p:nvPr>
            <p:ph type="body" sz="quarter" idx="12"/>
          </p:nvPr>
        </p:nvSpPr>
        <p:spPr>
          <a:xfrm>
            <a:off x="591401" y="2493819"/>
            <a:ext cx="4696217" cy="3194462"/>
          </a:xfrm>
        </p:spPr>
        <p:txBody>
          <a:bodyPr/>
          <a:lstStyle/>
          <a:p>
            <a:r>
              <a:rPr lang="en-US" dirty="0"/>
              <a:t>Docker images are now containerized in AWS ECR for use across AWS services.</a:t>
            </a:r>
          </a:p>
        </p:txBody>
      </p:sp>
      <p:pic>
        <p:nvPicPr>
          <p:cNvPr id="8" name="Picture 7" descr="A screenshot of a computer&#10;&#10;AI-generated content may be incorrect.">
            <a:extLst>
              <a:ext uri="{FF2B5EF4-FFF2-40B4-BE49-F238E27FC236}">
                <a16:creationId xmlns:a16="http://schemas.microsoft.com/office/drawing/2014/main" id="{C454A6BF-AD9A-495E-35E7-21FD34E6CD3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96000" y="3429000"/>
            <a:ext cx="6096000" cy="3311559"/>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EFCDE43F-DE17-5BB9-2416-F96793586AD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96001" y="117440"/>
            <a:ext cx="6096000" cy="3311559"/>
          </a:xfrm>
          <a:prstGeom prst="rect">
            <a:avLst/>
          </a:prstGeom>
        </p:spPr>
      </p:pic>
    </p:spTree>
    <p:extLst>
      <p:ext uri="{BB962C8B-B14F-4D97-AF65-F5344CB8AC3E}">
        <p14:creationId xmlns:p14="http://schemas.microsoft.com/office/powerpoint/2010/main" val="372613895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6C7A-39D2-DF32-6CDC-11ADA40FB8C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D23E8F5-7E21-AA48-E7F6-A0FDA69C3C94}"/>
              </a:ext>
            </a:extLst>
          </p:cNvPr>
          <p:cNvSpPr>
            <a:spLocks noGrp="1"/>
          </p:cNvSpPr>
          <p:nvPr>
            <p:ph type="body" sz="quarter" idx="10"/>
          </p:nvPr>
        </p:nvSpPr>
        <p:spPr/>
        <p:txBody>
          <a:bodyPr/>
          <a:lstStyle/>
          <a:p>
            <a:r>
              <a:rPr lang="en-US" dirty="0"/>
              <a:t>Amazon ECS Deployment with Docker</a:t>
            </a:r>
            <a:endParaRPr lang="en-SG" dirty="0"/>
          </a:p>
        </p:txBody>
      </p:sp>
      <p:sp>
        <p:nvSpPr>
          <p:cNvPr id="4" name="Text Placeholder 3">
            <a:extLst>
              <a:ext uri="{FF2B5EF4-FFF2-40B4-BE49-F238E27FC236}">
                <a16:creationId xmlns:a16="http://schemas.microsoft.com/office/drawing/2014/main" id="{01FC52C8-C6E3-597A-FD52-11D08A1B1680}"/>
              </a:ext>
            </a:extLst>
          </p:cNvPr>
          <p:cNvSpPr>
            <a:spLocks noGrp="1"/>
          </p:cNvSpPr>
          <p:nvPr>
            <p:ph type="body" sz="quarter" idx="12"/>
          </p:nvPr>
        </p:nvSpPr>
        <p:spPr>
          <a:xfrm>
            <a:off x="591401" y="2493819"/>
            <a:ext cx="4696217" cy="3194462"/>
          </a:xfrm>
        </p:spPr>
        <p:txBody>
          <a:bodyPr/>
          <a:lstStyle/>
          <a:p>
            <a:r>
              <a:rPr lang="en-US" dirty="0"/>
              <a:t>AWS Elastic Container Services created with both API (backend) &amp; WEB (frontend) services running. This is what launces the container for the deployment of the application.</a:t>
            </a:r>
            <a:endParaRPr lang="en-SG" dirty="0"/>
          </a:p>
          <a:p>
            <a:endParaRPr lang="en-SG" dirty="0"/>
          </a:p>
        </p:txBody>
      </p:sp>
      <p:pic>
        <p:nvPicPr>
          <p:cNvPr id="5" name="Picture 4" descr="A screenshot of a computer&#10;&#10;AI-generated content may be incorrect.">
            <a:extLst>
              <a:ext uri="{FF2B5EF4-FFF2-40B4-BE49-F238E27FC236}">
                <a16:creationId xmlns:a16="http://schemas.microsoft.com/office/drawing/2014/main" id="{E359B1F1-DADC-C847-03D0-A56AC88B7B6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96000" y="1"/>
            <a:ext cx="6096000" cy="317057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3115E4D-212D-5154-7412-061638A4842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96000" y="3170576"/>
            <a:ext cx="6096000" cy="3687423"/>
          </a:xfrm>
          <a:prstGeom prst="rect">
            <a:avLst/>
          </a:prstGeom>
        </p:spPr>
      </p:pic>
    </p:spTree>
    <p:extLst>
      <p:ext uri="{BB962C8B-B14F-4D97-AF65-F5344CB8AC3E}">
        <p14:creationId xmlns:p14="http://schemas.microsoft.com/office/powerpoint/2010/main" val="282291367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FDF0E-F2A6-D0B3-5B30-B8E86FFE03D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848E48-1648-8F44-81DD-1BA49F5E1ED6}"/>
              </a:ext>
            </a:extLst>
          </p:cNvPr>
          <p:cNvSpPr>
            <a:spLocks noGrp="1"/>
          </p:cNvSpPr>
          <p:nvPr>
            <p:ph type="body" sz="quarter" idx="10"/>
          </p:nvPr>
        </p:nvSpPr>
        <p:spPr/>
        <p:txBody>
          <a:bodyPr/>
          <a:lstStyle/>
          <a:p>
            <a:r>
              <a:rPr lang="en-US" dirty="0"/>
              <a:t>Amazon ECS Deployment with Docker</a:t>
            </a:r>
            <a:endParaRPr lang="en-SG" dirty="0"/>
          </a:p>
        </p:txBody>
      </p:sp>
      <p:sp>
        <p:nvSpPr>
          <p:cNvPr id="4" name="Text Placeholder 3">
            <a:extLst>
              <a:ext uri="{FF2B5EF4-FFF2-40B4-BE49-F238E27FC236}">
                <a16:creationId xmlns:a16="http://schemas.microsoft.com/office/drawing/2014/main" id="{17D817B8-66E0-B49D-24BD-BD7A9F219474}"/>
              </a:ext>
            </a:extLst>
          </p:cNvPr>
          <p:cNvSpPr>
            <a:spLocks noGrp="1"/>
          </p:cNvSpPr>
          <p:nvPr>
            <p:ph type="body" sz="quarter" idx="12"/>
          </p:nvPr>
        </p:nvSpPr>
        <p:spPr>
          <a:xfrm>
            <a:off x="591401" y="2493819"/>
            <a:ext cx="4696217" cy="3194462"/>
          </a:xfrm>
        </p:spPr>
        <p:txBody>
          <a:bodyPr/>
          <a:lstStyle/>
          <a:p>
            <a:r>
              <a:rPr lang="en-US" dirty="0"/>
              <a:t>After configuring the AWS ECS task definitions, the application is </a:t>
            </a:r>
            <a:r>
              <a:rPr lang="en-US"/>
              <a:t>finally deployed.</a:t>
            </a:r>
            <a:endParaRPr lang="en-SG" dirty="0"/>
          </a:p>
          <a:p>
            <a:endParaRPr lang="en-SG" dirty="0"/>
          </a:p>
        </p:txBody>
      </p:sp>
      <p:pic>
        <p:nvPicPr>
          <p:cNvPr id="6" name="Picture 5" descr="A screenshot of a computer&#10;&#10;AI-generated content may be incorrect.">
            <a:extLst>
              <a:ext uri="{FF2B5EF4-FFF2-40B4-BE49-F238E27FC236}">
                <a16:creationId xmlns:a16="http://schemas.microsoft.com/office/drawing/2014/main" id="{41DACDB0-7B2D-2C1A-D2C8-76653D482B7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96000" y="1"/>
            <a:ext cx="6096000" cy="342900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368F3EB-E74C-C9C1-B9BD-ECFEABD3F43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96001" y="3440370"/>
            <a:ext cx="6096000" cy="3429000"/>
          </a:xfrm>
          <a:prstGeom prst="rect">
            <a:avLst/>
          </a:prstGeom>
        </p:spPr>
      </p:pic>
    </p:spTree>
    <p:extLst>
      <p:ext uri="{BB962C8B-B14F-4D97-AF65-F5344CB8AC3E}">
        <p14:creationId xmlns:p14="http://schemas.microsoft.com/office/powerpoint/2010/main" val="49873792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8"/>
            <a:ext cx="6594591" cy="1005751"/>
          </a:xfrm>
        </p:spPr>
        <p:txBody>
          <a:bodyPr/>
          <a:lstStyle/>
          <a:p>
            <a:r>
              <a:rPr lang="en-US" dirty="0"/>
              <a:t>Targeted Users</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1" y="1578428"/>
            <a:ext cx="6686092" cy="4147458"/>
          </a:xfrm>
        </p:spPr>
        <p:txBody>
          <a:bodyPr/>
          <a:lstStyle/>
          <a:p>
            <a:pPr fontAlgn="base"/>
            <a:r>
              <a:rPr lang="en-US" sz="1800" b="1" dirty="0"/>
              <a:t>Beginners in Cloud Development</a:t>
            </a:r>
            <a:r>
              <a:rPr lang="en-US" sz="1800" dirty="0"/>
              <a:t>​</a:t>
            </a:r>
          </a:p>
          <a:p>
            <a:pPr fontAlgn="base"/>
            <a:r>
              <a:rPr lang="en-US" sz="1800" i="1" dirty="0"/>
              <a:t>Amplify offers intuitive setup and tutorials, lowering the entry barrier for beginners in cloud development.</a:t>
            </a:r>
            <a:r>
              <a:rPr lang="en-US" sz="1800" dirty="0"/>
              <a:t>​</a:t>
            </a:r>
          </a:p>
          <a:p>
            <a:pPr fontAlgn="base"/>
            <a:r>
              <a:rPr lang="en-US" sz="1800" b="1" dirty="0"/>
              <a:t>Frontend Developers</a:t>
            </a:r>
            <a:r>
              <a:rPr lang="en-US" sz="1800" dirty="0"/>
              <a:t>​</a:t>
            </a:r>
          </a:p>
          <a:p>
            <a:pPr fontAlgn="base"/>
            <a:r>
              <a:rPr lang="en-US" sz="1800" i="1" dirty="0"/>
              <a:t>Frontend developers can integrate backend features like authentication and data storage easily without backend expertise.</a:t>
            </a:r>
            <a:r>
              <a:rPr lang="en-US" sz="1800" dirty="0"/>
              <a:t>​</a:t>
            </a:r>
          </a:p>
          <a:p>
            <a:pPr fontAlgn="base"/>
            <a:r>
              <a:rPr lang="en-US" sz="1800" b="1" dirty="0"/>
              <a:t>Startups and Small Teams</a:t>
            </a:r>
            <a:r>
              <a:rPr lang="en-US" sz="1800" dirty="0"/>
              <a:t>​</a:t>
            </a:r>
          </a:p>
          <a:p>
            <a:pPr fontAlgn="base"/>
            <a:r>
              <a:rPr lang="en-US" sz="1800" i="1" dirty="0"/>
              <a:t>Startups benefit from rapid deployment and minimal infrastructure, focusing on fast product development.</a:t>
            </a:r>
            <a:r>
              <a:rPr lang="en-US" sz="1800" dirty="0"/>
              <a:t>​</a:t>
            </a:r>
          </a:p>
          <a:p>
            <a:pPr fontAlgn="base"/>
            <a:r>
              <a:rPr lang="en-US" sz="1800" b="1" dirty="0"/>
              <a:t>Educators and Students</a:t>
            </a:r>
            <a:r>
              <a:rPr lang="en-US" sz="1800" dirty="0"/>
              <a:t>​</a:t>
            </a:r>
          </a:p>
          <a:p>
            <a:pPr fontAlgn="base"/>
            <a:r>
              <a:rPr lang="en-US" sz="1800" i="1" dirty="0"/>
              <a:t>Amplify supports academic use with free tiers and sandbox environments for building full-stack apps hands-on.</a:t>
            </a:r>
            <a:r>
              <a:rPr lang="en-US" sz="1800" dirty="0"/>
              <a:t>​</a:t>
            </a:r>
          </a:p>
        </p:txBody>
      </p:sp>
      <p:pic>
        <p:nvPicPr>
          <p:cNvPr id="6" name="Picture Placeholder 5" descr="A person giving a presentation to a group of people&#10;&#10;AI-generated content may be incorrect.">
            <a:extLst>
              <a:ext uri="{FF2B5EF4-FFF2-40B4-BE49-F238E27FC236}">
                <a16:creationId xmlns:a16="http://schemas.microsoft.com/office/drawing/2014/main" id="{945CFB2F-56E7-8E57-872A-85C9BE578091}"/>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82742" b="-88753"/>
          <a:stretch>
            <a:fillRect/>
          </a:stretch>
        </p:blipFill>
        <p:spPr>
          <a:xfrm>
            <a:off x="7971183" y="0"/>
            <a:ext cx="4220817" cy="6858000"/>
          </a:xfrm>
        </p:spPr>
      </p:pic>
    </p:spTree>
    <p:extLst>
      <p:ext uri="{BB962C8B-B14F-4D97-AF65-F5344CB8AC3E}">
        <p14:creationId xmlns:p14="http://schemas.microsoft.com/office/powerpoint/2010/main" val="362066771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7D17-E437-DD46-AE33-64FC08A15971}"/>
              </a:ext>
            </a:extLst>
          </p:cNvPr>
          <p:cNvSpPr>
            <a:spLocks noGrp="1"/>
          </p:cNvSpPr>
          <p:nvPr>
            <p:ph type="body" sz="quarter" idx="10"/>
          </p:nvPr>
        </p:nvSpPr>
        <p:spPr/>
        <p:txBody>
          <a:bodyPr/>
          <a:lstStyle/>
          <a:p>
            <a:r>
              <a:rPr lang="en-GB" dirty="0"/>
              <a:t>Summary and Recommendations</a:t>
            </a:r>
          </a:p>
          <a:p>
            <a:endParaRPr lang="en-US" dirty="0"/>
          </a:p>
        </p:txBody>
      </p:sp>
    </p:spTree>
    <p:extLst>
      <p:ext uri="{BB962C8B-B14F-4D97-AF65-F5344CB8AC3E}">
        <p14:creationId xmlns:p14="http://schemas.microsoft.com/office/powerpoint/2010/main" val="256893084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399" y="572679"/>
            <a:ext cx="7256235" cy="982989"/>
          </a:xfrm>
        </p:spPr>
        <p:txBody>
          <a:bodyPr/>
          <a:lstStyle/>
          <a:p>
            <a:r>
              <a:rPr lang="en-US" dirty="0"/>
              <a:t>Summary</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a:xfrm>
            <a:off x="591401" y="1555668"/>
            <a:ext cx="6686092" cy="4729653"/>
          </a:xfrm>
        </p:spPr>
        <p:txBody>
          <a:bodyPr/>
          <a:lstStyle/>
          <a:p>
            <a:pPr fontAlgn="base"/>
            <a:r>
              <a:rPr lang="en-US" sz="1800" b="1" dirty="0"/>
              <a:t>Robust Development Platform</a:t>
            </a:r>
            <a:r>
              <a:rPr lang="en-US" sz="1800" dirty="0"/>
              <a:t>​</a:t>
            </a:r>
          </a:p>
          <a:p>
            <a:pPr fontAlgn="base"/>
            <a:r>
              <a:rPr lang="en-US" sz="1800" dirty="0"/>
              <a:t>Amplify provides a scalable and unified platform for full-stack application development with speed and simplicity.​</a:t>
            </a:r>
          </a:p>
          <a:p>
            <a:pPr fontAlgn="base"/>
            <a:r>
              <a:rPr lang="en-US" sz="1800" b="1" dirty="0"/>
              <a:t>CI/CD and Frontend Support</a:t>
            </a:r>
            <a:r>
              <a:rPr lang="en-US" sz="1800" dirty="0"/>
              <a:t>​</a:t>
            </a:r>
          </a:p>
          <a:p>
            <a:pPr fontAlgn="base"/>
            <a:r>
              <a:rPr lang="en-US" sz="1800" dirty="0"/>
              <a:t>Automatic CI/CD integration and support for popular frontend technologies streamline development workflows.​</a:t>
            </a:r>
          </a:p>
          <a:p>
            <a:pPr fontAlgn="base"/>
            <a:r>
              <a:rPr lang="en-US" sz="1800" b="1" dirty="0"/>
              <a:t>Ideal for Startups and Interns</a:t>
            </a:r>
            <a:r>
              <a:rPr lang="en-US" sz="1800" dirty="0"/>
              <a:t>​</a:t>
            </a:r>
          </a:p>
          <a:p>
            <a:pPr fontAlgn="base"/>
            <a:r>
              <a:rPr lang="en-US" sz="1800" dirty="0"/>
              <a:t>Amplify suits interns and startups for quick app building with minimal infrastructure management and cost control.​</a:t>
            </a:r>
          </a:p>
          <a:p>
            <a:pPr fontAlgn="base"/>
            <a:r>
              <a:rPr lang="en-US" sz="1800" b="1" dirty="0"/>
              <a:t>Rapid Testing and Cost Optimization</a:t>
            </a:r>
            <a:r>
              <a:rPr lang="en-US" sz="1800" dirty="0"/>
              <a:t>​</a:t>
            </a:r>
          </a:p>
          <a:p>
            <a:pPr fontAlgn="base"/>
            <a:r>
              <a:rPr lang="en-US" sz="1800" dirty="0"/>
              <a:t>Sandbox environments enable fast testing, and cost optimization features ensure budget-friendly operations.​</a:t>
            </a:r>
          </a:p>
        </p:txBody>
      </p:sp>
    </p:spTree>
    <p:extLst>
      <p:ext uri="{BB962C8B-B14F-4D97-AF65-F5344CB8AC3E}">
        <p14:creationId xmlns:p14="http://schemas.microsoft.com/office/powerpoint/2010/main" val="303435874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9195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8099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A9165D84-C8C1-42E8-8982-779DCC775A9B}"/>
    </a:ext>
  </a:extLst>
</a:theme>
</file>

<file path=ppt/theme/theme2.xml><?xml version="1.0" encoding="utf-8"?>
<a:theme xmlns:a="http://schemas.openxmlformats.org/drawingml/2006/main" name="divider">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D504DB27-46FF-49B2-B2E8-A881BF7CEA8F}"/>
    </a:ext>
  </a:extLst>
</a:theme>
</file>

<file path=ppt/theme/theme3.xml><?xml version="1.0" encoding="utf-8"?>
<a:theme xmlns:a="http://schemas.openxmlformats.org/drawingml/2006/main" name="2_content">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E1056611-396A-4587-A475-9CCB9A7CFDB3}"/>
    </a:ext>
  </a:extLst>
</a:theme>
</file>

<file path=ppt/theme/theme4.xml><?xml version="1.0" encoding="utf-8"?>
<a:theme xmlns:a="http://schemas.openxmlformats.org/drawingml/2006/main" name="end slides">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7EF9E658-9FCD-4CCD-96C4-E2A25B15814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f96a6d0-7d7c-4546-8158-e86a403a6ac9">
      <UserInfo>
        <DisplayName>Isaac Chan (NCS)</DisplayName>
        <AccountId>18</AccountId>
        <AccountType/>
      </UserInfo>
      <UserInfo>
        <DisplayName>Asil Asil (NCS)</DisplayName>
        <AccountId>19</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E66EC21B1E83B4D86C907A05C95DE09" ma:contentTypeVersion="5" ma:contentTypeDescription="Create a new document." ma:contentTypeScope="" ma:versionID="6aa6a40c7ed11de17141c4396c3c09fa">
  <xsd:schema xmlns:xsd="http://www.w3.org/2001/XMLSchema" xmlns:xs="http://www.w3.org/2001/XMLSchema" xmlns:p="http://schemas.microsoft.com/office/2006/metadata/properties" xmlns:ns2="7762f694-24cd-422c-8506-be279f1c593a" xmlns:ns3="bf96a6d0-7d7c-4546-8158-e86a403a6ac9" targetNamespace="http://schemas.microsoft.com/office/2006/metadata/properties" ma:root="true" ma:fieldsID="cbcc2c2dd9d337ed517da6ffa62e5640" ns2:_="" ns3:_="">
    <xsd:import namespace="7762f694-24cd-422c-8506-be279f1c593a"/>
    <xsd:import namespace="bf96a6d0-7d7c-4546-8158-e86a403a6ac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62f694-24cd-422c-8506-be279f1c5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96a6d0-7d7c-4546-8158-e86a403a6ac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645BDE-075B-4C01-B810-3203EB500D0D}">
  <ds:schemaRefs>
    <ds:schemaRef ds:uri="f076d96e-05a5-45a8-8460-4ccc7c61843d"/>
    <ds:schemaRef ds:uri="http://schemas.microsoft.com/office/2006/metadata/properties"/>
    <ds:schemaRef ds:uri="http://schemas.microsoft.com/office/infopath/2007/PartnerControls"/>
    <ds:schemaRef ds:uri="bf96a6d0-7d7c-4546-8158-e86a403a6ac9"/>
  </ds:schemaRefs>
</ds:datastoreItem>
</file>

<file path=customXml/itemProps2.xml><?xml version="1.0" encoding="utf-8"?>
<ds:datastoreItem xmlns:ds="http://schemas.openxmlformats.org/officeDocument/2006/customXml" ds:itemID="{6BCBB70C-2BCC-4239-ACE0-CFA6AFFAA6BD}">
  <ds:schemaRefs>
    <ds:schemaRef ds:uri="http://schemas.microsoft.com/sharepoint/v3/contenttype/forms"/>
  </ds:schemaRefs>
</ds:datastoreItem>
</file>

<file path=customXml/itemProps3.xml><?xml version="1.0" encoding="utf-8"?>
<ds:datastoreItem xmlns:ds="http://schemas.openxmlformats.org/officeDocument/2006/customXml" ds:itemID="{75081DD3-7D94-4C0B-9C87-088E2DC41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62f694-24cd-422c-8506-be279f1c593a"/>
    <ds:schemaRef ds:uri="bf96a6d0-7d7c-4546-8158-e86a403a6a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219</TotalTime>
  <Words>635</Words>
  <Application>Microsoft Office PowerPoint</Application>
  <PresentationFormat>Widescreen</PresentationFormat>
  <Paragraphs>73</Paragraphs>
  <Slides>17</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17</vt:i4>
      </vt:variant>
    </vt:vector>
  </HeadingPairs>
  <TitlesOfParts>
    <vt:vector size="24" baseType="lpstr">
      <vt:lpstr>Calibri</vt:lpstr>
      <vt:lpstr>Arial</vt:lpstr>
      <vt:lpstr>Ubuntu</vt:lpstr>
      <vt:lpstr>cover slide</vt:lpstr>
      <vt:lpstr>divider</vt:lpstr>
      <vt:lpstr>2_content</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Belle Law (NCS)</dc:creator>
  <cp:lastModifiedBy>Razin Zaidun (NCS)</cp:lastModifiedBy>
  <cp:revision>45</cp:revision>
  <dcterms:created xsi:type="dcterms:W3CDTF">2021-10-03T16:25:32Z</dcterms:created>
  <dcterms:modified xsi:type="dcterms:W3CDTF">2025-10-24T19:48:32Z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0x0101001E66EC21B1E83B4D86C907A05C95DE09</vt:lpwstr>
  </property>
</Properties>
</file>